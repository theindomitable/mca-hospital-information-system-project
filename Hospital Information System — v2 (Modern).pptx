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880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Minor project presentation for the Hospital Management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table is declared in SQLAlchemy and materialised by a single Alembic migration, so the deployed schema matches the model definitions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presentation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509760" y="1799890"/>
            <a:ext cx="1920240" cy="1920240"/>
          </a:xfrm>
          <a:prstGeom prst="roundRect">
            <a:avLst>
              <a:gd name="adj" fmla="val 7619"/>
            </a:avLst>
          </a:prstGeom>
          <a:solidFill>
            <a:srgbClr val="12544F"/>
          </a:solidFill>
          <a:ln/>
        </p:spPr>
      </p:sp>
      <p:sp>
        <p:nvSpPr>
          <p:cNvPr id="4" name="Shape 1"/>
          <p:cNvSpPr/>
          <p:nvPr/>
        </p:nvSpPr>
        <p:spPr>
          <a:xfrm>
            <a:off x="10258654" y="2586096"/>
            <a:ext cx="422453" cy="422453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5" name="Shape 2"/>
          <p:cNvSpPr/>
          <p:nvPr/>
        </p:nvSpPr>
        <p:spPr>
          <a:xfrm>
            <a:off x="10744200" y="2995138"/>
            <a:ext cx="1371600" cy="1371600"/>
          </a:xfrm>
          <a:prstGeom prst="roundRect">
            <a:avLst>
              <a:gd name="adj" fmla="val 10667"/>
            </a:avLst>
          </a:prstGeom>
          <a:solidFill>
            <a:srgbClr val="06171B"/>
          </a:solidFill>
          <a:ln/>
        </p:spPr>
      </p:sp>
      <p:sp>
        <p:nvSpPr>
          <p:cNvPr id="6" name="Shape 3"/>
          <p:cNvSpPr/>
          <p:nvPr/>
        </p:nvSpPr>
        <p:spPr>
          <a:xfrm>
            <a:off x="11279124" y="3567374"/>
            <a:ext cx="301752" cy="301752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7" name="Shape 4"/>
          <p:cNvSpPr/>
          <p:nvPr/>
        </p:nvSpPr>
        <p:spPr>
          <a:xfrm>
            <a:off x="9966960" y="4503898"/>
            <a:ext cx="1097280" cy="1097280"/>
          </a:xfrm>
          <a:prstGeom prst="roundRect">
            <a:avLst>
              <a:gd name="adj" fmla="val 13333"/>
            </a:avLst>
          </a:prstGeom>
          <a:solidFill>
            <a:srgbClr val="12544F"/>
          </a:solidFill>
          <a:ln/>
        </p:spPr>
      </p:sp>
      <p:sp>
        <p:nvSpPr>
          <p:cNvPr id="8" name="Shape 5"/>
          <p:cNvSpPr/>
          <p:nvPr/>
        </p:nvSpPr>
        <p:spPr>
          <a:xfrm>
            <a:off x="10394899" y="4969149"/>
            <a:ext cx="241402" cy="241402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0" y="585402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6171B"/>
          </a:solidFill>
          <a:ln/>
        </p:spPr>
      </p:sp>
      <p:sp>
        <p:nvSpPr>
          <p:cNvPr id="10" name="Shape 7"/>
          <p:cNvSpPr/>
          <p:nvPr/>
        </p:nvSpPr>
        <p:spPr>
          <a:xfrm>
            <a:off x="11275924" y="6157150"/>
            <a:ext cx="170993" cy="170993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2035952"/>
            <a:ext cx="164592" cy="164592"/>
          </a:xfrm>
          <a:prstGeom prst="roundRect">
            <a:avLst>
              <a:gd name="adj" fmla="val 88889"/>
            </a:avLst>
          </a:prstGeom>
          <a:solidFill>
            <a:srgbClr val="8BBB9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7824" y="2018599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kern="0" spc="260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MINOR PROJECT PRESENTATION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2468897"/>
            <a:ext cx="862372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2921986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role-aware web application for the complete hospital cycle — registration, appointments, clinical records, pharmacy, laboratory and settlement.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3703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b="1" kern="0" spc="180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GUIDES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02943" y="4181425"/>
            <a:ext cx="164592" cy="164592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22983" y="4117417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 Jay Kumar Jain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02943" y="4584129"/>
            <a:ext cx="164592" cy="164592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22983" y="4482797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 Kuldeep Singh Yadav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5366595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kern="0" spc="180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" y="5835738"/>
            <a:ext cx="3553968" cy="585216"/>
          </a:xfrm>
          <a:prstGeom prst="roundRect">
            <a:avLst>
              <a:gd name="adj" fmla="val 25000"/>
            </a:avLst>
          </a:prstGeom>
          <a:solidFill>
            <a:srgbClr val="06171B"/>
          </a:solidFill>
          <a:ln/>
        </p:spPr>
      </p:sp>
      <p:sp>
        <p:nvSpPr>
          <p:cNvPr id="22" name="Shape 19"/>
          <p:cNvSpPr/>
          <p:nvPr/>
        </p:nvSpPr>
        <p:spPr>
          <a:xfrm>
            <a:off x="566928" y="5945466"/>
            <a:ext cx="82296" cy="365760"/>
          </a:xfrm>
          <a:prstGeom prst="roundRect">
            <a:avLst>
              <a:gd name="adj" fmla="val 177778"/>
            </a:avLst>
          </a:prstGeom>
          <a:solidFill>
            <a:srgbClr val="8BBB9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4672" y="5908890"/>
            <a:ext cx="3188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Ashutosh Sharma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04672" y="6137490"/>
            <a:ext cx="3188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25204031148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303776" y="5835738"/>
            <a:ext cx="3553968" cy="585216"/>
          </a:xfrm>
          <a:prstGeom prst="roundRect">
            <a:avLst>
              <a:gd name="adj" fmla="val 25000"/>
            </a:avLst>
          </a:prstGeom>
          <a:solidFill>
            <a:srgbClr val="06171B"/>
          </a:solidFill>
          <a:ln/>
        </p:spPr>
      </p:sp>
      <p:sp>
        <p:nvSpPr>
          <p:cNvPr id="26" name="Shape 23"/>
          <p:cNvSpPr/>
          <p:nvPr/>
        </p:nvSpPr>
        <p:spPr>
          <a:xfrm>
            <a:off x="4303776" y="5945466"/>
            <a:ext cx="82296" cy="365760"/>
          </a:xfrm>
          <a:prstGeom prst="roundRect">
            <a:avLst>
              <a:gd name="adj" fmla="val 177778"/>
            </a:avLst>
          </a:prstGeom>
          <a:solidFill>
            <a:srgbClr val="8BBB9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41520" y="5908890"/>
            <a:ext cx="3188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Bhavishya Sisodiya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41520" y="6137490"/>
            <a:ext cx="3188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25204031140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040624" y="5835738"/>
            <a:ext cx="3553968" cy="585216"/>
          </a:xfrm>
          <a:prstGeom prst="roundRect">
            <a:avLst>
              <a:gd name="adj" fmla="val 25000"/>
            </a:avLst>
          </a:prstGeom>
          <a:solidFill>
            <a:srgbClr val="06171B"/>
          </a:solidFill>
          <a:ln/>
        </p:spPr>
      </p:sp>
      <p:sp>
        <p:nvSpPr>
          <p:cNvPr id="30" name="Shape 27"/>
          <p:cNvSpPr/>
          <p:nvPr/>
        </p:nvSpPr>
        <p:spPr>
          <a:xfrm>
            <a:off x="8040624" y="5945466"/>
            <a:ext cx="82296" cy="365760"/>
          </a:xfrm>
          <a:prstGeom prst="roundRect">
            <a:avLst>
              <a:gd name="adj" fmla="val 177778"/>
            </a:avLst>
          </a:prstGeom>
          <a:solidFill>
            <a:srgbClr val="8BBB9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278368" y="5908890"/>
            <a:ext cx="3188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Nitish Kumar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278368" y="6137490"/>
            <a:ext cx="3188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25204031115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49225" y="365759"/>
            <a:ext cx="11032702" cy="95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200" b="1" kern="0" spc="110" dirty="0">
                <a:solidFill>
                  <a:srgbClr val="A9CC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Maulana Azad National Institute of Technology, Bhopal</a:t>
            </a:r>
          </a:p>
          <a:p>
            <a:pPr algn="ctr">
              <a:lnSpc>
                <a:spcPct val="112000"/>
              </a:lnSpc>
            </a:pPr>
            <a:r>
              <a:rPr lang="en-US" sz="2000" b="1" kern="0" spc="110" dirty="0">
                <a:solidFill>
                  <a:srgbClr val="A9CC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Department of Mathematics, Bioinformatics and Computer Application</a:t>
            </a:r>
            <a:endParaRPr lang="en-US" sz="2000" dirty="0"/>
          </a:p>
          <a:p>
            <a:pPr marL="0" indent="0" algn="ctr">
              <a:lnSpc>
                <a:spcPct val="112000"/>
              </a:lnSpc>
              <a:buNone/>
            </a:pPr>
            <a:endParaRPr lang="en-US" sz="3200" b="1" kern="0" spc="110" dirty="0">
              <a:solidFill>
                <a:srgbClr val="A9CCC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Outline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394960" cy="861822"/>
          </a:xfrm>
          <a:prstGeom prst="roundRect">
            <a:avLst>
              <a:gd name="adj" fmla="val 1697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2029968"/>
            <a:ext cx="457200" cy="45720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9476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2585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 · Problem · Scope · Objectives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9632" y="1783080"/>
            <a:ext cx="5394960" cy="861822"/>
          </a:xfrm>
          <a:prstGeom prst="roundRect">
            <a:avLst>
              <a:gd name="adj" fmla="val 1697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83096" y="2029968"/>
            <a:ext cx="457200" cy="45720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14" name="Text 12"/>
          <p:cNvSpPr/>
          <p:nvPr/>
        </p:nvSpPr>
        <p:spPr>
          <a:xfrm>
            <a:off x="6483096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95744" y="19476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95744" y="22585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architecture · Technology stack · Modules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2919222"/>
            <a:ext cx="5394960" cy="861822"/>
          </a:xfrm>
          <a:prstGeom prst="roundRect">
            <a:avLst>
              <a:gd name="adj" fmla="val 1697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" y="3166110"/>
            <a:ext cx="457200" cy="45720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" y="31661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08381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Control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39471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Roles · Authentication and security flow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99632" y="2919222"/>
            <a:ext cx="5394960" cy="861822"/>
          </a:xfrm>
          <a:prstGeom prst="roundRect">
            <a:avLst>
              <a:gd name="adj" fmla="val 1697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83096" y="3166110"/>
            <a:ext cx="457200" cy="45720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24" name="Text 22"/>
          <p:cNvSpPr/>
          <p:nvPr/>
        </p:nvSpPr>
        <p:spPr>
          <a:xfrm>
            <a:off x="6483096" y="31661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95744" y="308381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95744" y="339471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DFD Level 0 · Level 1 · seven Level 2 diagrams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4055364"/>
            <a:ext cx="5394960" cy="861822"/>
          </a:xfrm>
          <a:prstGeom prst="roundRect">
            <a:avLst>
              <a:gd name="adj" fmla="val 1697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" y="4302252"/>
            <a:ext cx="457200" cy="45720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" y="4302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42199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Design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45308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ERD across three domains · Database schema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99632" y="4055364"/>
            <a:ext cx="5394960" cy="861822"/>
          </a:xfrm>
          <a:prstGeom prst="roundRect">
            <a:avLst>
              <a:gd name="adj" fmla="val 1697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3096" y="4302252"/>
            <a:ext cx="457200" cy="45720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34" name="Text 32"/>
          <p:cNvSpPr/>
          <p:nvPr/>
        </p:nvSpPr>
        <p:spPr>
          <a:xfrm>
            <a:off x="6483096" y="4302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095744" y="42199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095744" y="45308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Eight role-specific use case diagrams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5191506"/>
            <a:ext cx="5394960" cy="861822"/>
          </a:xfrm>
          <a:prstGeom prst="roundRect">
            <a:avLst>
              <a:gd name="adj" fmla="val 1697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0392" y="5438394"/>
            <a:ext cx="457200" cy="45720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" y="54383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463040" y="535609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&amp; AI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1463040" y="566699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design · Assistant pipeline · Tool permissions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99632" y="5191506"/>
            <a:ext cx="5394960" cy="861822"/>
          </a:xfrm>
          <a:prstGeom prst="roundRect">
            <a:avLst>
              <a:gd name="adj" fmla="val 1697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83096" y="5438394"/>
            <a:ext cx="457200" cy="45720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44" name="Text 42"/>
          <p:cNvSpPr/>
          <p:nvPr/>
        </p:nvSpPr>
        <p:spPr>
          <a:xfrm>
            <a:off x="6483096" y="54383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095744" y="535609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&amp; Delivery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7095744" y="566699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 · Backend · Security · Deployment · QA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45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373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Hospital Management System is a role-aware web application that digitises the complete operational cycle of a hospital — from patient registration and appointment booking through admission, treatment, prescribing, laboratory investigation, dispensing and final settlement.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127248"/>
            <a:ext cx="3337560" cy="137160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236976"/>
            <a:ext cx="91440" cy="1152144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323697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connected record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547872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patient's identity, visits, vitals, records, prescriptions, results and bills stay linked through foreign keys.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87368" y="3127248"/>
            <a:ext cx="3337560" cy="137160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87368" y="3236976"/>
            <a:ext cx="91440" cy="1152144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61688" y="323697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Eight distinct viewpoints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61688" y="3547872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doctor, nurse, receptionist, pharmacist, lab technician, accountant and patient each see only their own workspace.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681728"/>
            <a:ext cx="3337560" cy="137160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791456"/>
            <a:ext cx="91440" cy="1152144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47914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deployable process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5102352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FastAPI serves the API and the compiled React bundle from the same origin.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87368" y="4681728"/>
            <a:ext cx="3337560" cy="137160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87368" y="4791456"/>
            <a:ext cx="91440" cy="1152144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61688" y="47914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Assistive intelligence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61688" y="5102352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role-gated LLM assistant answers scheduling and operational questions through 14 database-backed tools.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836408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kern="0" spc="12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36408" y="2121408"/>
            <a:ext cx="3657600" cy="841248"/>
          </a:xfrm>
          <a:prstGeom prst="roundRect">
            <a:avLst>
              <a:gd name="adj" fmla="val 173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82712" y="2197120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982712" y="2651394"/>
            <a:ext cx="3364992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96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tables</a:t>
            </a:r>
            <a:endParaRPr lang="en-US" sz="1196" dirty="0"/>
          </a:p>
        </p:txBody>
      </p:sp>
      <p:sp>
        <p:nvSpPr>
          <p:cNvPr id="28" name="Shape 26"/>
          <p:cNvSpPr/>
          <p:nvPr/>
        </p:nvSpPr>
        <p:spPr>
          <a:xfrm>
            <a:off x="7836408" y="3108960"/>
            <a:ext cx="3657600" cy="841248"/>
          </a:xfrm>
          <a:prstGeom prst="roundRect">
            <a:avLst>
              <a:gd name="adj" fmla="val 173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82712" y="3184672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168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7982712" y="3638946"/>
            <a:ext cx="3364992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96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endpoints</a:t>
            </a:r>
            <a:endParaRPr lang="en-US" sz="1196" dirty="0"/>
          </a:p>
        </p:txBody>
      </p:sp>
      <p:sp>
        <p:nvSpPr>
          <p:cNvPr id="31" name="Shape 29"/>
          <p:cNvSpPr/>
          <p:nvPr/>
        </p:nvSpPr>
        <p:spPr>
          <a:xfrm>
            <a:off x="7836408" y="4096512"/>
            <a:ext cx="3657600" cy="841248"/>
          </a:xfrm>
          <a:prstGeom prst="roundRect">
            <a:avLst>
              <a:gd name="adj" fmla="val 173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82712" y="4172224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7982712" y="4626498"/>
            <a:ext cx="3364992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96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routers</a:t>
            </a:r>
            <a:endParaRPr lang="en-US" sz="1196" dirty="0"/>
          </a:p>
        </p:txBody>
      </p:sp>
      <p:sp>
        <p:nvSpPr>
          <p:cNvPr id="34" name="Shape 32"/>
          <p:cNvSpPr/>
          <p:nvPr/>
        </p:nvSpPr>
        <p:spPr>
          <a:xfrm>
            <a:off x="7836408" y="5084064"/>
            <a:ext cx="3657600" cy="841248"/>
          </a:xfrm>
          <a:prstGeom prst="roundRect">
            <a:avLst>
              <a:gd name="adj" fmla="val 173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82712" y="5159776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982712" y="5614050"/>
            <a:ext cx="3364992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96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roles</a:t>
            </a:r>
            <a:endParaRPr lang="en-US" sz="119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01168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92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Fragmented paper records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history spread across files and registers.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decisions without a complete longitudinal view.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2064" y="1783080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14088" y="201168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14" name="Text 12"/>
          <p:cNvSpPr/>
          <p:nvPr/>
        </p:nvSpPr>
        <p:spPr>
          <a:xfrm>
            <a:off x="451408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5035296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Repeated manual entry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35296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same demographic captured at reception, ward and billing.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hand-off a fresh transcription of the same data.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77200" y="1783080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9224" y="201168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19" name="Text 17"/>
          <p:cNvSpPr/>
          <p:nvPr/>
        </p:nvSpPr>
        <p:spPr>
          <a:xfrm>
            <a:off x="826922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92" dirty="0"/>
          </a:p>
        </p:txBody>
      </p:sp>
      <p:sp>
        <p:nvSpPr>
          <p:cNvPr id="20" name="Text 18"/>
          <p:cNvSpPr txBox="1"/>
          <p:nvPr/>
        </p:nvSpPr>
        <p:spPr>
          <a:xfrm>
            <a:off x="8790432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unified availability view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90432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Bed and slot occupancy not visible while booking.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 discover conflicts only at the counter.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037076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4265676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Untraceable clinical history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Records, vitals, results and prescriptions held apart.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single timeline per patient.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22064" y="4037076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4088" y="4265676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29" name="Text 27"/>
          <p:cNvSpPr/>
          <p:nvPr/>
        </p:nvSpPr>
        <p:spPr>
          <a:xfrm>
            <a:off x="4514088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92" dirty="0"/>
          </a:p>
        </p:txBody>
      </p:sp>
      <p:sp>
        <p:nvSpPr>
          <p:cNvPr id="30" name="Text 28"/>
          <p:cNvSpPr txBox="1"/>
          <p:nvPr/>
        </p:nvSpPr>
        <p:spPr>
          <a:xfrm>
            <a:off x="5035296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Slow settlement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035296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invoice assembly across departments.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 status not visible to the patient.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77200" y="4037076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69224" y="4265676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34" name="Text 32"/>
          <p:cNvSpPr/>
          <p:nvPr/>
        </p:nvSpPr>
        <p:spPr>
          <a:xfrm>
            <a:off x="8269224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92" dirty="0"/>
          </a:p>
        </p:txBody>
      </p:sp>
      <p:sp>
        <p:nvSpPr>
          <p:cNvPr id="35" name="Text 33"/>
          <p:cNvSpPr txBox="1"/>
          <p:nvPr/>
        </p:nvSpPr>
        <p:spPr>
          <a:xfrm>
            <a:off x="8790432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Uncontrolled data access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790432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shared login could reach every record.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role boundary between clinical and administrative data.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Scope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45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3736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system covers eleven functional domains served by thirty API routers. Every domain is modelled in PostgreSQL and exposed through role-gated REST endpoints.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286000"/>
            <a:ext cx="2578608" cy="466344"/>
          </a:xfrm>
          <a:prstGeom prst="roundRect">
            <a:avLst>
              <a:gd name="adj" fmla="val 3137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377440"/>
            <a:ext cx="82296" cy="283464"/>
          </a:xfrm>
          <a:prstGeom prst="roundRect">
            <a:avLst>
              <a:gd name="adj" fmla="val 177778"/>
            </a:avLst>
          </a:prstGeom>
          <a:solidFill>
            <a:srgbClr val="2A83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286000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Identity &amp; access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286000"/>
            <a:ext cx="2578608" cy="466344"/>
          </a:xfrm>
          <a:prstGeom prst="roundRect">
            <a:avLst>
              <a:gd name="adj" fmla="val 3137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377440"/>
            <a:ext cx="82296" cy="283464"/>
          </a:xfrm>
          <a:prstGeom prst="roundRect">
            <a:avLst>
              <a:gd name="adj" fmla="val 177778"/>
            </a:avLst>
          </a:prstGeom>
          <a:solidFill>
            <a:srgbClr val="2A83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02736" y="2286000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setup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2286000"/>
            <a:ext cx="2578608" cy="466344"/>
          </a:xfrm>
          <a:prstGeom prst="roundRect">
            <a:avLst>
              <a:gd name="adj" fmla="val 3137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2377440"/>
            <a:ext cx="82296" cy="283464"/>
          </a:xfrm>
          <a:prstGeom prst="roundRect">
            <a:avLst>
              <a:gd name="adj" fmla="val 177778"/>
            </a:avLst>
          </a:prstGeom>
          <a:solidFill>
            <a:srgbClr val="2A83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19088" y="2286000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Staff &amp; doctors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15984" y="2286000"/>
            <a:ext cx="2578608" cy="466344"/>
          </a:xfrm>
          <a:prstGeom prst="roundRect">
            <a:avLst>
              <a:gd name="adj" fmla="val 3137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15984" y="2377440"/>
            <a:ext cx="82296" cy="283464"/>
          </a:xfrm>
          <a:prstGeom prst="roundRect">
            <a:avLst>
              <a:gd name="adj" fmla="val 177778"/>
            </a:avLst>
          </a:prstGeom>
          <a:solidFill>
            <a:srgbClr val="2A835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35440" y="2286000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2898648"/>
            <a:ext cx="2578608" cy="466344"/>
          </a:xfrm>
          <a:prstGeom prst="roundRect">
            <a:avLst>
              <a:gd name="adj" fmla="val 3137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990088"/>
            <a:ext cx="82296" cy="283464"/>
          </a:xfrm>
          <a:prstGeom prst="roundRect">
            <a:avLst>
              <a:gd name="adj" fmla="val 177778"/>
            </a:avLst>
          </a:prstGeom>
          <a:solidFill>
            <a:srgbClr val="2A835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" y="2898648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2898648"/>
            <a:ext cx="2578608" cy="466344"/>
          </a:xfrm>
          <a:prstGeom prst="roundRect">
            <a:avLst>
              <a:gd name="adj" fmla="val 3137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2990088"/>
            <a:ext cx="82296" cy="283464"/>
          </a:xfrm>
          <a:prstGeom prst="roundRect">
            <a:avLst>
              <a:gd name="adj" fmla="val 177778"/>
            </a:avLst>
          </a:prstGeom>
          <a:solidFill>
            <a:srgbClr val="2A835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602736" y="2898648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Admissions &amp; wards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99632" y="2898648"/>
            <a:ext cx="2578608" cy="466344"/>
          </a:xfrm>
          <a:prstGeom prst="roundRect">
            <a:avLst>
              <a:gd name="adj" fmla="val 3137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9632" y="2990088"/>
            <a:ext cx="82296" cy="283464"/>
          </a:xfrm>
          <a:prstGeom prst="roundRect">
            <a:avLst>
              <a:gd name="adj" fmla="val 177778"/>
            </a:avLst>
          </a:prstGeom>
          <a:solidFill>
            <a:srgbClr val="2A835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19088" y="2898648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records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15984" y="2898648"/>
            <a:ext cx="2578608" cy="466344"/>
          </a:xfrm>
          <a:prstGeom prst="roundRect">
            <a:avLst>
              <a:gd name="adj" fmla="val 3137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15984" y="2990088"/>
            <a:ext cx="82296" cy="283464"/>
          </a:xfrm>
          <a:prstGeom prst="roundRect">
            <a:avLst>
              <a:gd name="adj" fmla="val 177778"/>
            </a:avLst>
          </a:prstGeom>
          <a:solidFill>
            <a:srgbClr val="2A835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5440" y="2898648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Laboratory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3511296"/>
            <a:ext cx="2578608" cy="466344"/>
          </a:xfrm>
          <a:prstGeom prst="roundRect">
            <a:avLst>
              <a:gd name="adj" fmla="val 3137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3602736"/>
            <a:ext cx="82296" cy="283464"/>
          </a:xfrm>
          <a:prstGeom prst="roundRect">
            <a:avLst>
              <a:gd name="adj" fmla="val 177778"/>
            </a:avLst>
          </a:prstGeom>
          <a:solidFill>
            <a:srgbClr val="2A835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86384" y="3511296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Pharmacy &amp; inventory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83280" y="3511296"/>
            <a:ext cx="2578608" cy="466344"/>
          </a:xfrm>
          <a:prstGeom prst="roundRect">
            <a:avLst>
              <a:gd name="adj" fmla="val 3137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3280" y="3602736"/>
            <a:ext cx="82296" cy="283464"/>
          </a:xfrm>
          <a:prstGeom prst="roundRect">
            <a:avLst>
              <a:gd name="adj" fmla="val 177778"/>
            </a:avLst>
          </a:prstGeom>
          <a:solidFill>
            <a:srgbClr val="2A835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602736" y="3511296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Billing &amp; payments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9632" y="3511296"/>
            <a:ext cx="2578608" cy="466344"/>
          </a:xfrm>
          <a:prstGeom prst="roundRect">
            <a:avLst>
              <a:gd name="adj" fmla="val 3137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3602736"/>
            <a:ext cx="82296" cy="283464"/>
          </a:xfrm>
          <a:prstGeom prst="roundRect">
            <a:avLst>
              <a:gd name="adj" fmla="val 177778"/>
            </a:avLst>
          </a:prstGeom>
          <a:solidFill>
            <a:srgbClr val="2A835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19088" y="3511296"/>
            <a:ext cx="22494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Dashboards &amp; AI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4206240"/>
            <a:ext cx="3517392" cy="1847088"/>
          </a:xfrm>
          <a:prstGeom prst="roundRect">
            <a:avLst>
              <a:gd name="adj" fmla="val 792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" y="4389120"/>
            <a:ext cx="300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 model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4828032"/>
            <a:ext cx="30053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single FastAPI process serves the JSON API, the compiled frontend bundle and the SPA fallback route.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22064" y="4206240"/>
            <a:ext cx="3517392" cy="1847088"/>
          </a:xfrm>
          <a:prstGeom prst="roundRect">
            <a:avLst>
              <a:gd name="adj" fmla="val 792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78096" y="4389120"/>
            <a:ext cx="300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 style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578096" y="4828032"/>
            <a:ext cx="30053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 and backend communicate over a documented REST surface consumed through 30 Axios service modules.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77200" y="4206240"/>
            <a:ext cx="3517392" cy="1847088"/>
          </a:xfrm>
          <a:prstGeom prst="roundRect">
            <a:avLst>
              <a:gd name="adj" fmla="val 792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33232" y="4389120"/>
            <a:ext cx="300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Intelligence layer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8333232" y="4828032"/>
            <a:ext cx="30053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OpenAI-compatible LLM endpoint, Ollama by default, is wrapped by a tool dispatcher gated on role.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28216"/>
            <a:ext cx="384048" cy="384048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17830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Digitise the hospital workflow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0574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Replace register-based operation with a single relational model covering every stage of care.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642616"/>
            <a:ext cx="384048" cy="384048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26974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 role-based access control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9718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Eight roles, two account types, and server-side guards on every protected endpoint.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557016"/>
            <a:ext cx="384048" cy="384048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6118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Guarantee data integrity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38862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Foreign keys, check constraints and indexes on hot lookup columns such as patient, doctor, bed and status.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471416"/>
            <a:ext cx="384048" cy="384048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92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45262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the domain explicitly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48006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Twenty-seven tables capturing identity, hospital, clinical, inpatient, laboratory, pharmacy and finance data.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1728216"/>
            <a:ext cx="384048" cy="384048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17830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Expose a clean API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20574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Thirty routers and 168 endpoints following consistent REST verbs with Pydantic request and response schemas.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2642616"/>
            <a:ext cx="384048" cy="384048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92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26974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 usable dashboards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29718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Seven staff dashboards plus a patient dashboard, each fed by scoped aggregate queries.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3557016"/>
            <a:ext cx="384048" cy="384048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92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6118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assistive intelligence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38862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conversational assistant grounded in live database state rather than free-form generation.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4471416"/>
            <a:ext cx="384048" cy="384048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92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45262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deployment simple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812280" y="4800600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container image serving API, static assets and a guarded SPA fallback route.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Three-tier architecture served from a single process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11027664" cy="1234440"/>
          </a:xfrm>
          <a:prstGeom prst="roundRect">
            <a:avLst>
              <a:gd name="adj" fmla="val 11852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100584" cy="868680"/>
          </a:xfrm>
          <a:prstGeom prst="roundRect">
            <a:avLst>
              <a:gd name="adj" fmla="val 145455"/>
            </a:avLst>
          </a:prstGeom>
          <a:solidFill>
            <a:srgbClr val="1254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1929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b="1" kern="0" spc="16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LAYER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2057400"/>
            <a:ext cx="1475842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55848" y="211226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2A83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229514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 19 SPA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86554" y="2057400"/>
            <a:ext cx="1475842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77994" y="211226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2A83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977994" y="229514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 Router 7 client routing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08699" y="2057400"/>
            <a:ext cx="1475842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00139" y="211226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2A83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600139" y="229514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Role-aware Sidebar &amp; Navbar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0845" y="2057400"/>
            <a:ext cx="1475842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2285" y="211226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2A83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222285" y="229514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Axios API service layer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52990" y="2057400"/>
            <a:ext cx="1475842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44430" y="211226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2A83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9844430" y="229514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ChatBot assistant widget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3145536"/>
            <a:ext cx="11027664" cy="1298448"/>
          </a:xfrm>
          <a:prstGeom prst="roundRect">
            <a:avLst>
              <a:gd name="adj" fmla="val 11268"/>
            </a:avLst>
          </a:prstGeom>
          <a:solidFill>
            <a:srgbClr val="092328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928" y="3328416"/>
            <a:ext cx="100584" cy="932688"/>
          </a:xfrm>
          <a:prstGeom prst="roundRect">
            <a:avLst>
              <a:gd name="adj" fmla="val 145455"/>
            </a:avLst>
          </a:prstGeom>
          <a:solidFill>
            <a:srgbClr val="8BBB9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1248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b="1" kern="0" spc="160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LAYER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64408" y="3419856"/>
            <a:ext cx="1205484" cy="749808"/>
          </a:xfrm>
          <a:prstGeom prst="roundRect">
            <a:avLst>
              <a:gd name="adj" fmla="val 19512"/>
            </a:avLst>
          </a:prstGeom>
          <a:solidFill>
            <a:srgbClr val="06171B"/>
          </a:solidFill>
          <a:ln w="9525">
            <a:solidFill>
              <a:srgbClr val="1254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55848" y="3474720"/>
            <a:ext cx="1022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3355848" y="3657600"/>
            <a:ext cx="1022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 REST API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6196" y="3419856"/>
            <a:ext cx="1205484" cy="749808"/>
          </a:xfrm>
          <a:prstGeom prst="roundRect">
            <a:avLst>
              <a:gd name="adj" fmla="val 19512"/>
            </a:avLst>
          </a:prstGeom>
          <a:solidFill>
            <a:srgbClr val="06171B"/>
          </a:solidFill>
          <a:ln w="9525">
            <a:solidFill>
              <a:srgbClr val="1254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07636" y="3474720"/>
            <a:ext cx="1022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707636" y="3657600"/>
            <a:ext cx="1022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JWT auth + role guards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67984" y="3419856"/>
            <a:ext cx="1205484" cy="749808"/>
          </a:xfrm>
          <a:prstGeom prst="roundRect">
            <a:avLst>
              <a:gd name="adj" fmla="val 19512"/>
            </a:avLst>
          </a:prstGeom>
          <a:solidFill>
            <a:srgbClr val="06171B"/>
          </a:solidFill>
          <a:ln w="9525">
            <a:solidFill>
              <a:srgbClr val="1254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59424" y="3474720"/>
            <a:ext cx="1022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059424" y="3657600"/>
            <a:ext cx="1022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routers / 168 endpoints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19772" y="3419856"/>
            <a:ext cx="1205484" cy="749808"/>
          </a:xfrm>
          <a:prstGeom prst="roundRect">
            <a:avLst>
              <a:gd name="adj" fmla="val 19512"/>
            </a:avLst>
          </a:prstGeom>
          <a:solidFill>
            <a:srgbClr val="06171B"/>
          </a:solidFill>
          <a:ln w="9525">
            <a:solidFill>
              <a:srgbClr val="1254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11212" y="3474720"/>
            <a:ext cx="1022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7411212" y="3657600"/>
            <a:ext cx="1022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Pydantic validation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671560" y="3419856"/>
            <a:ext cx="1205484" cy="749808"/>
          </a:xfrm>
          <a:prstGeom prst="roundRect">
            <a:avLst>
              <a:gd name="adj" fmla="val 19512"/>
            </a:avLst>
          </a:prstGeom>
          <a:solidFill>
            <a:srgbClr val="06171B"/>
          </a:solidFill>
          <a:ln w="9525">
            <a:solidFill>
              <a:srgbClr val="12544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63000" y="3474720"/>
            <a:ext cx="1022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763000" y="3657600"/>
            <a:ext cx="1022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 exception handlers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023348" y="3419856"/>
            <a:ext cx="1205484" cy="749808"/>
          </a:xfrm>
          <a:prstGeom prst="roundRect">
            <a:avLst>
              <a:gd name="adj" fmla="val 19512"/>
            </a:avLst>
          </a:prstGeom>
          <a:solidFill>
            <a:srgbClr val="06171B"/>
          </a:solidFill>
          <a:ln w="9525">
            <a:solidFill>
              <a:srgbClr val="12544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114788" y="3474720"/>
            <a:ext cx="1022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0114788" y="3657600"/>
            <a:ext cx="1022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chat router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" y="4572000"/>
            <a:ext cx="11027664" cy="1234440"/>
          </a:xfrm>
          <a:prstGeom prst="roundRect">
            <a:avLst>
              <a:gd name="adj" fmla="val 11852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" y="4754880"/>
            <a:ext cx="100584" cy="868680"/>
          </a:xfrm>
          <a:prstGeom prst="roundRect">
            <a:avLst>
              <a:gd name="adj" fmla="val 145455"/>
            </a:avLst>
          </a:prstGeom>
          <a:solidFill>
            <a:srgbClr val="12544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41248" y="4718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b="1" kern="0" spc="16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264408" y="4846320"/>
            <a:ext cx="1475842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355848" y="490118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2A83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3355848" y="508406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86554" y="4846320"/>
            <a:ext cx="1475842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977994" y="490118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2A83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4977994" y="508406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SQLAlchemy 2.0 ORM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508699" y="4846320"/>
            <a:ext cx="1475842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600139" y="490118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2A83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6600139" y="508406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 relational tables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130845" y="4846320"/>
            <a:ext cx="1475842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22285" y="490118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2A83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8222285" y="508406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Alembic migrations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752990" y="4846320"/>
            <a:ext cx="1475842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844430" y="4901184"/>
            <a:ext cx="12929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2A83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9844430" y="5084064"/>
            <a:ext cx="12929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bcrypt password hashing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080760" y="3017520"/>
            <a:ext cx="914" cy="128016"/>
          </a:xfrm>
          <a:prstGeom prst="line">
            <a:avLst/>
          </a:prstGeom>
          <a:noFill/>
          <a:ln w="20320">
            <a:solidFill>
              <a:srgbClr val="2A835F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 flipV="1">
            <a:off x="6281928" y="3017520"/>
            <a:ext cx="914" cy="128016"/>
          </a:xfrm>
          <a:prstGeom prst="line">
            <a:avLst/>
          </a:prstGeom>
          <a:noFill/>
          <a:ln w="15240">
            <a:solidFill>
              <a:srgbClr val="6C8683"/>
            </a:solidFill>
            <a:prstDash val="dash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6080760" y="4443984"/>
            <a:ext cx="914" cy="128016"/>
          </a:xfrm>
          <a:prstGeom prst="line">
            <a:avLst/>
          </a:prstGeom>
          <a:noFill/>
          <a:ln w="20320">
            <a:solidFill>
              <a:srgbClr val="2A835F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 flipV="1">
            <a:off x="6281928" y="4443984"/>
            <a:ext cx="914" cy="128016"/>
          </a:xfrm>
          <a:prstGeom prst="line">
            <a:avLst/>
          </a:prstGeom>
          <a:noFill/>
          <a:ln w="15240">
            <a:solidFill>
              <a:srgbClr val="6C8683"/>
            </a:solidFill>
            <a:prstDash val="dash"/>
            <a:headEnd type="none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566928" y="5925312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 / JSON  request  +  response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45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37360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and tooling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1254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084832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75316" y="2084832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125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66756" y="2084832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49476" y="2084832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1254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040916" y="2084832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Purpose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386584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2386584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75316" y="2386584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66756" y="2386584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19.2.8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49476" y="2386584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40916" y="2386584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Component-based SPA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2688336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2688336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75316" y="2688336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66756" y="2688336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8.2.2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49476" y="2688336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40916" y="2688336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 server and bundler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2990088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2990088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Router DOM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75316" y="2990088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66756" y="2990088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7.18.3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949476" y="2990088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40916" y="2990088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Client-side routing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3291840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3291840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Axios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75316" y="3291840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66756" y="3291840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1.20.0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49476" y="3291840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40916" y="3291840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service layer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" y="3593592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" y="3593592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Oxlint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75316" y="3593592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66756" y="3593592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1.79.0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949476" y="3593592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40916" y="3593592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Static analysis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309360" y="1737360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Backend, data and AI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309360" y="2084832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12544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0800" y="2084832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317748" y="2084832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12544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409188" y="2084832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691908" y="2084832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12544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783348" y="2084832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Purpose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09360" y="2386584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0800" y="2386584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FastAPI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317748" y="2386584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409188" y="2386584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0.141.1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691908" y="2386584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783348" y="2386584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API framework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09360" y="2688336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400800" y="2688336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Uvicorn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317748" y="2688336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409188" y="2688336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0.52.4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691908" y="2688336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783348" y="2688336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ASGI server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09360" y="2990088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400800" y="2990088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SQLAlchemy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317748" y="2990088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409188" y="2990088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2.0.52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691908" y="2990088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783348" y="2990088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ORM and data access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309360" y="3291840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400800" y="3291840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psycopg2-binary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317748" y="3291840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409188" y="3291840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2.9.13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691908" y="3291840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783348" y="3291840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PostgreSQL driver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309360" y="3593592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400800" y="3593592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Alembic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317748" y="3593592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409188" y="3593592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1.19.2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9691908" y="3593592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783348" y="3593592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Schema migrations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09360" y="3895344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400800" y="3895344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python-jose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8317748" y="3895344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8409188" y="3895344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3.5.0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691908" y="3895344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783348" y="3895344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JWT encode and decode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309360" y="4197096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400800" y="4197096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Passlib / bcrypt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8317748" y="4197096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409188" y="4197096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1.7.4 / 4.0.1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9691908" y="4197096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9783348" y="4197096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Password hashing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309360" y="4498848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400800" y="4498848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Pydantic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8317748" y="4498848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409188" y="4498848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2.13.5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9691908" y="4498848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9783348" y="4498848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 validation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6309360" y="4800600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400800" y="4800600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pydantic-settings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8317748" y="4800600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8409188" y="4800600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2.15.0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9691908" y="4800600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9783348" y="4800600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Environment configuration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6309360" y="5102352"/>
            <a:ext cx="2008388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6400800" y="5102352"/>
            <a:ext cx="18255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HTTPX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8317748" y="5102352"/>
            <a:ext cx="1374160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8409188" y="5102352"/>
            <a:ext cx="119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0.28.1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9691908" y="5102352"/>
            <a:ext cx="1902684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9783348" y="5102352"/>
            <a:ext cx="17198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OpenAI-compatible LLM client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 Modules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2578608" cy="1264920"/>
          </a:xfrm>
          <a:prstGeom prst="roundRect">
            <a:avLst>
              <a:gd name="adj" fmla="val 1156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01168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92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110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&amp; Access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95144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self-registration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and JWT issue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 master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2773680"/>
            <a:ext cx="1042416" cy="219456"/>
          </a:xfrm>
          <a:prstGeom prst="roundRect">
            <a:avLst>
              <a:gd name="adj" fmla="val 66667"/>
            </a:avLst>
          </a:prstGeom>
          <a:solidFill>
            <a:srgbClr val="EAF3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773680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routers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1783080"/>
            <a:ext cx="2578608" cy="1264920"/>
          </a:xfrm>
          <a:prstGeom prst="roundRect">
            <a:avLst>
              <a:gd name="adj" fmla="val 1156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75304" y="201168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16" name="Text 14"/>
          <p:cNvSpPr/>
          <p:nvPr/>
        </p:nvSpPr>
        <p:spPr>
          <a:xfrm>
            <a:off x="357530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92" dirty="0"/>
          </a:p>
        </p:txBody>
      </p:sp>
      <p:sp>
        <p:nvSpPr>
          <p:cNvPr id="17" name="Text 15"/>
          <p:cNvSpPr txBox="1"/>
          <p:nvPr/>
        </p:nvSpPr>
        <p:spPr>
          <a:xfrm>
            <a:off x="4096512" y="19110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Setup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096512" y="2295144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Hospitals and departments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Rooms and beds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Availability queries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39312" y="2773680"/>
            <a:ext cx="1042416" cy="219456"/>
          </a:xfrm>
          <a:prstGeom prst="roundRect">
            <a:avLst>
              <a:gd name="adj" fmla="val 66667"/>
            </a:avLst>
          </a:prstGeom>
          <a:solidFill>
            <a:srgbClr val="EAF3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39312" y="2773680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routers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99632" y="1783080"/>
            <a:ext cx="2578608" cy="1264920"/>
          </a:xfrm>
          <a:prstGeom prst="roundRect">
            <a:avLst>
              <a:gd name="adj" fmla="val 1156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91656" y="201168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23" name="Text 21"/>
          <p:cNvSpPr/>
          <p:nvPr/>
        </p:nvSpPr>
        <p:spPr>
          <a:xfrm>
            <a:off x="639165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92" dirty="0"/>
          </a:p>
        </p:txBody>
      </p:sp>
      <p:sp>
        <p:nvSpPr>
          <p:cNvPr id="24" name="Text 22"/>
          <p:cNvSpPr txBox="1"/>
          <p:nvPr/>
        </p:nvSpPr>
        <p:spPr>
          <a:xfrm>
            <a:off x="6912864" y="19110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Staff &amp; Doctors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2295144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directory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 profiles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schedules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55664" y="2773680"/>
            <a:ext cx="1042416" cy="219456"/>
          </a:xfrm>
          <a:prstGeom prst="roundRect">
            <a:avLst>
              <a:gd name="adj" fmla="val 66667"/>
            </a:avLst>
          </a:prstGeom>
          <a:solidFill>
            <a:srgbClr val="EAF3E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55664" y="2773680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routers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015984" y="1783080"/>
            <a:ext cx="2578608" cy="1264920"/>
          </a:xfrm>
          <a:prstGeom prst="roundRect">
            <a:avLst>
              <a:gd name="adj" fmla="val 1156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08008" y="201168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30" name="Text 28"/>
          <p:cNvSpPr/>
          <p:nvPr/>
        </p:nvSpPr>
        <p:spPr>
          <a:xfrm>
            <a:off x="92080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92" dirty="0"/>
          </a:p>
        </p:txBody>
      </p:sp>
      <p:sp>
        <p:nvSpPr>
          <p:cNvPr id="31" name="Text 29"/>
          <p:cNvSpPr txBox="1"/>
          <p:nvPr/>
        </p:nvSpPr>
        <p:spPr>
          <a:xfrm>
            <a:off x="9729216" y="19110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729216" y="2295144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Registration and profile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and staff views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272016" y="2773680"/>
            <a:ext cx="1042416" cy="219456"/>
          </a:xfrm>
          <a:prstGeom prst="roundRect">
            <a:avLst>
              <a:gd name="adj" fmla="val 66667"/>
            </a:avLst>
          </a:prstGeom>
          <a:solidFill>
            <a:srgbClr val="EAF3E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72016" y="2773680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router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6928" y="3285744"/>
            <a:ext cx="2578608" cy="1264920"/>
          </a:xfrm>
          <a:prstGeom prst="roundRect">
            <a:avLst>
              <a:gd name="adj" fmla="val 1156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" y="3514344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" y="3514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92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34137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Appointments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280160" y="3797808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Slot booking and cancel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Booked-slot views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2960" y="4276344"/>
            <a:ext cx="1042416" cy="219456"/>
          </a:xfrm>
          <a:prstGeom prst="roundRect">
            <a:avLst>
              <a:gd name="adj" fmla="val 66667"/>
            </a:avLst>
          </a:prstGeom>
          <a:solidFill>
            <a:srgbClr val="EAF3E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2960" y="427634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router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83280" y="3285744"/>
            <a:ext cx="2578608" cy="1264920"/>
          </a:xfrm>
          <a:prstGeom prst="roundRect">
            <a:avLst>
              <a:gd name="adj" fmla="val 1156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75304" y="3514344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44" name="Text 42"/>
          <p:cNvSpPr/>
          <p:nvPr/>
        </p:nvSpPr>
        <p:spPr>
          <a:xfrm>
            <a:off x="3575304" y="3514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92" dirty="0"/>
          </a:p>
        </p:txBody>
      </p:sp>
      <p:sp>
        <p:nvSpPr>
          <p:cNvPr id="45" name="Text 43"/>
          <p:cNvSpPr txBox="1"/>
          <p:nvPr/>
        </p:nvSpPr>
        <p:spPr>
          <a:xfrm>
            <a:off x="4096512" y="34137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Admissions &amp; Wards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4096512" y="3797808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Admit and discharge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Nurse assignment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39312" y="4276344"/>
            <a:ext cx="1042416" cy="219456"/>
          </a:xfrm>
          <a:prstGeom prst="roundRect">
            <a:avLst>
              <a:gd name="adj" fmla="val 66667"/>
            </a:avLst>
          </a:prstGeom>
          <a:solidFill>
            <a:srgbClr val="EAF3E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639312" y="427634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routers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99632" y="3285744"/>
            <a:ext cx="2578608" cy="1264920"/>
          </a:xfrm>
          <a:prstGeom prst="roundRect">
            <a:avLst>
              <a:gd name="adj" fmla="val 1156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91656" y="3514344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51" name="Text 49"/>
          <p:cNvSpPr/>
          <p:nvPr/>
        </p:nvSpPr>
        <p:spPr>
          <a:xfrm>
            <a:off x="6391656" y="3514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092" dirty="0"/>
          </a:p>
        </p:txBody>
      </p:sp>
      <p:sp>
        <p:nvSpPr>
          <p:cNvPr id="52" name="Text 50"/>
          <p:cNvSpPr txBox="1"/>
          <p:nvPr/>
        </p:nvSpPr>
        <p:spPr>
          <a:xfrm>
            <a:off x="6912864" y="34137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Clinical Records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6912864" y="3797808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records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Vitals capture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55664" y="4276344"/>
            <a:ext cx="1042416" cy="219456"/>
          </a:xfrm>
          <a:prstGeom prst="roundRect">
            <a:avLst>
              <a:gd name="adj" fmla="val 66667"/>
            </a:avLst>
          </a:prstGeom>
          <a:solidFill>
            <a:srgbClr val="EAF3EE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455664" y="427634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routers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015984" y="3285744"/>
            <a:ext cx="2578608" cy="1264920"/>
          </a:xfrm>
          <a:prstGeom prst="roundRect">
            <a:avLst>
              <a:gd name="adj" fmla="val 1156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08008" y="3514344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58" name="Text 56"/>
          <p:cNvSpPr/>
          <p:nvPr/>
        </p:nvSpPr>
        <p:spPr>
          <a:xfrm>
            <a:off x="9208008" y="3514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092" dirty="0"/>
          </a:p>
        </p:txBody>
      </p:sp>
      <p:sp>
        <p:nvSpPr>
          <p:cNvPr id="59" name="Text 57"/>
          <p:cNvSpPr txBox="1"/>
          <p:nvPr/>
        </p:nvSpPr>
        <p:spPr>
          <a:xfrm>
            <a:off x="9729216" y="34137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Laboratory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9729216" y="3797808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type catalogue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orders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 entry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272016" y="4276344"/>
            <a:ext cx="1042416" cy="219456"/>
          </a:xfrm>
          <a:prstGeom prst="roundRect">
            <a:avLst>
              <a:gd name="adj" fmla="val 66667"/>
            </a:avLst>
          </a:prstGeom>
          <a:solidFill>
            <a:srgbClr val="EAF3EE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272016" y="427634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routers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66928" y="4788408"/>
            <a:ext cx="2578608" cy="1264920"/>
          </a:xfrm>
          <a:prstGeom prst="roundRect">
            <a:avLst>
              <a:gd name="adj" fmla="val 1156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8952" y="5017008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65" name="Text 63"/>
          <p:cNvSpPr/>
          <p:nvPr/>
        </p:nvSpPr>
        <p:spPr>
          <a:xfrm>
            <a:off x="758952" y="501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092" dirty="0"/>
          </a:p>
        </p:txBody>
      </p:sp>
      <p:sp>
        <p:nvSpPr>
          <p:cNvPr id="66" name="Text 64"/>
          <p:cNvSpPr txBox="1"/>
          <p:nvPr/>
        </p:nvSpPr>
        <p:spPr>
          <a:xfrm>
            <a:off x="1280160" y="491642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Pharmacy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1280160" y="5300472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 master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Batch and expiry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 by pharmacy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22960" y="5779008"/>
            <a:ext cx="1042416" cy="219456"/>
          </a:xfrm>
          <a:prstGeom prst="roundRect">
            <a:avLst>
              <a:gd name="adj" fmla="val 66667"/>
            </a:avLst>
          </a:prstGeom>
          <a:solidFill>
            <a:srgbClr val="EAF3EE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22960" y="57790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routers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383280" y="4788408"/>
            <a:ext cx="2578608" cy="1264920"/>
          </a:xfrm>
          <a:prstGeom prst="roundRect">
            <a:avLst>
              <a:gd name="adj" fmla="val 1156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575304" y="5017008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72" name="Text 70"/>
          <p:cNvSpPr/>
          <p:nvPr/>
        </p:nvSpPr>
        <p:spPr>
          <a:xfrm>
            <a:off x="3575304" y="501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92" dirty="0"/>
          </a:p>
        </p:txBody>
      </p:sp>
      <p:sp>
        <p:nvSpPr>
          <p:cNvPr id="73" name="Text 71"/>
          <p:cNvSpPr txBox="1"/>
          <p:nvPr/>
        </p:nvSpPr>
        <p:spPr>
          <a:xfrm>
            <a:off x="4096512" y="491642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Billing &amp; Payments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4096512" y="5300472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Invoices and items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 capture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639312" y="5779008"/>
            <a:ext cx="1042416" cy="219456"/>
          </a:xfrm>
          <a:prstGeom prst="roundRect">
            <a:avLst>
              <a:gd name="adj" fmla="val 66667"/>
            </a:avLst>
          </a:prstGeom>
          <a:solidFill>
            <a:srgbClr val="EAF3EE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3639312" y="57790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routers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199632" y="4788408"/>
            <a:ext cx="2578608" cy="1264920"/>
          </a:xfrm>
          <a:prstGeom prst="roundRect">
            <a:avLst>
              <a:gd name="adj" fmla="val 1156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91656" y="5017008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79" name="Text 77"/>
          <p:cNvSpPr/>
          <p:nvPr/>
        </p:nvSpPr>
        <p:spPr>
          <a:xfrm>
            <a:off x="6391656" y="501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92" dirty="0"/>
          </a:p>
        </p:txBody>
      </p:sp>
      <p:sp>
        <p:nvSpPr>
          <p:cNvPr id="80" name="Text 78"/>
          <p:cNvSpPr txBox="1"/>
          <p:nvPr/>
        </p:nvSpPr>
        <p:spPr>
          <a:xfrm>
            <a:off x="6912864" y="491642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 &amp; AI</a:t>
            </a:r>
            <a:endParaRPr lang="en-US" sz="1150" dirty="0"/>
          </a:p>
        </p:txBody>
      </p:sp>
      <p:sp>
        <p:nvSpPr>
          <p:cNvPr id="81" name="Text 79"/>
          <p:cNvSpPr txBox="1"/>
          <p:nvPr/>
        </p:nvSpPr>
        <p:spPr>
          <a:xfrm>
            <a:off x="6912864" y="5300472"/>
            <a:ext cx="16093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Aggregate statistics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Tool-gated assistant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455664" y="5779008"/>
            <a:ext cx="1042416" cy="219456"/>
          </a:xfrm>
          <a:prstGeom prst="roundRect">
            <a:avLst>
              <a:gd name="adj" fmla="val 66667"/>
            </a:avLst>
          </a:prstGeom>
          <a:solidFill>
            <a:srgbClr val="EAF3EE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6455664" y="57790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routers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9015984" y="4788408"/>
            <a:ext cx="2578608" cy="1264920"/>
          </a:xfrm>
          <a:prstGeom prst="roundRect">
            <a:avLst>
              <a:gd name="adj" fmla="val 1156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272016" y="4916424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routers</a:t>
            </a:r>
            <a:endParaRPr lang="en-US" sz="1150" dirty="0"/>
          </a:p>
        </p:txBody>
      </p:sp>
      <p:sp>
        <p:nvSpPr>
          <p:cNvPr id="86" name="Text 84"/>
          <p:cNvSpPr txBox="1"/>
          <p:nvPr/>
        </p:nvSpPr>
        <p:spPr>
          <a:xfrm>
            <a:off x="9272016" y="5300472"/>
            <a:ext cx="2066544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module exposed over</a:t>
            </a:r>
            <a:endParaRPr lang="en-US" sz="850" dirty="0"/>
          </a:p>
          <a:p>
            <a:pPr marL="0" indent="0" algn="l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consistent REST verbs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9272016" y="5779008"/>
            <a:ext cx="1042416" cy="219456"/>
          </a:xfrm>
          <a:prstGeom prst="roundRect">
            <a:avLst>
              <a:gd name="adj" fmla="val 66667"/>
            </a:avLst>
          </a:prstGeom>
          <a:solidFill>
            <a:srgbClr val="EAF3EE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9272016" y="57790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168 endpoints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CONTROL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Roles and Access Model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45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0078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Accounts are split into two types. A patient account can only ever address patient-scoped routes; a member account must additionally carry one of seven staff roles, checked on every protected request.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157984"/>
            <a:ext cx="5394960" cy="749808"/>
          </a:xfrm>
          <a:prstGeom prst="roundRect">
            <a:avLst>
              <a:gd name="adj" fmla="val 19512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267712"/>
            <a:ext cx="91440" cy="530352"/>
          </a:xfrm>
          <a:prstGeom prst="roundRect">
            <a:avLst>
              <a:gd name="adj" fmla="val 160000"/>
            </a:avLst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2311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account_type = patient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require_patient guard. Self-service on own appointments, records, results, prescriptions, vitals, admissions, invoices and payments.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9632" y="2157984"/>
            <a:ext cx="5394960" cy="749808"/>
          </a:xfrm>
          <a:prstGeom prst="roundRect">
            <a:avLst>
              <a:gd name="adj" fmla="val 19512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2267712"/>
            <a:ext cx="91440" cy="530352"/>
          </a:xfrm>
          <a:prstGeom prst="roundRect">
            <a:avLst>
              <a:gd name="adj" fmla="val 160000"/>
            </a:avLst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22311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account_type = member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require_member or require_role guard. Staff workspaces for admin, doctor, nurse, receptionist, pharmacist, lab_technician and accountant.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108960"/>
            <a:ext cx="2578608" cy="137160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" y="3319272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552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Administrator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51129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38039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control of every master record and dashboard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3108960"/>
            <a:ext cx="2578608" cy="137160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1880" y="3319272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4096512" y="32552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Doctor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351129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38039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Appointments, patients, records, prescriptions, schedule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99632" y="3108960"/>
            <a:ext cx="2578608" cy="137160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3319272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30" name="Text 28"/>
          <p:cNvSpPr/>
          <p:nvPr/>
        </p:nvSpPr>
        <p:spPr>
          <a:xfrm>
            <a:off x="6428232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31" name="Text 29"/>
          <p:cNvSpPr txBox="1"/>
          <p:nvPr/>
        </p:nvSpPr>
        <p:spPr>
          <a:xfrm>
            <a:off x="6912864" y="32552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Nurse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912864" y="351129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nurse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382512" y="38039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Assigned patients and vitals recording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15984" y="3108960"/>
            <a:ext cx="2578608" cy="137160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44584" y="3319272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36" name="Text 34"/>
          <p:cNvSpPr/>
          <p:nvPr/>
        </p:nvSpPr>
        <p:spPr>
          <a:xfrm>
            <a:off x="9244584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92" dirty="0"/>
          </a:p>
        </p:txBody>
      </p:sp>
      <p:sp>
        <p:nvSpPr>
          <p:cNvPr id="37" name="Text 35"/>
          <p:cNvSpPr txBox="1"/>
          <p:nvPr/>
        </p:nvSpPr>
        <p:spPr>
          <a:xfrm>
            <a:off x="9729216" y="32552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Receptionist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729216" y="351129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receptionist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198864" y="38039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Patients, appointments, admissions, billing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" y="4681728"/>
            <a:ext cx="2578608" cy="137160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5528" y="489204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42" name="Text 40"/>
          <p:cNvSpPr/>
          <p:nvPr/>
        </p:nvSpPr>
        <p:spPr>
          <a:xfrm>
            <a:off x="795528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92" dirty="0"/>
          </a:p>
        </p:txBody>
      </p:sp>
      <p:sp>
        <p:nvSpPr>
          <p:cNvPr id="43" name="Text 41"/>
          <p:cNvSpPr txBox="1"/>
          <p:nvPr/>
        </p:nvSpPr>
        <p:spPr>
          <a:xfrm>
            <a:off x="1280160" y="48280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Pharmacist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1280160" y="50840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pharmacist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49808" y="537667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 billing and stock control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383280" y="4681728"/>
            <a:ext cx="2578608" cy="137160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11880" y="489204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48" name="Text 46"/>
          <p:cNvSpPr/>
          <p:nvPr/>
        </p:nvSpPr>
        <p:spPr>
          <a:xfrm>
            <a:off x="361188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92" dirty="0"/>
          </a:p>
        </p:txBody>
      </p:sp>
      <p:sp>
        <p:nvSpPr>
          <p:cNvPr id="49" name="Text 47"/>
          <p:cNvSpPr txBox="1"/>
          <p:nvPr/>
        </p:nvSpPr>
        <p:spPr>
          <a:xfrm>
            <a:off x="4096512" y="48280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Technician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4096512" y="50840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lab_technician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3566160" y="537667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types, lab tests and result entry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99632" y="4681728"/>
            <a:ext cx="2578608" cy="137160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28232" y="489204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54" name="Text 52"/>
          <p:cNvSpPr/>
          <p:nvPr/>
        </p:nvSpPr>
        <p:spPr>
          <a:xfrm>
            <a:off x="6428232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92" dirty="0"/>
          </a:p>
        </p:txBody>
      </p:sp>
      <p:sp>
        <p:nvSpPr>
          <p:cNvPr id="55" name="Text 53"/>
          <p:cNvSpPr txBox="1"/>
          <p:nvPr/>
        </p:nvSpPr>
        <p:spPr>
          <a:xfrm>
            <a:off x="6912864" y="48280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Accountant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6912864" y="50840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accountant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6382512" y="537667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Invoices, invoice items and payments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015984" y="4681728"/>
            <a:ext cx="2578608" cy="137160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44584" y="489204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60" name="Text 58"/>
          <p:cNvSpPr/>
          <p:nvPr/>
        </p:nvSpPr>
        <p:spPr>
          <a:xfrm>
            <a:off x="9244584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92" dirty="0"/>
          </a:p>
        </p:txBody>
      </p:sp>
      <p:sp>
        <p:nvSpPr>
          <p:cNvPr id="61" name="Text 59"/>
          <p:cNvSpPr txBox="1"/>
          <p:nvPr/>
        </p:nvSpPr>
        <p:spPr>
          <a:xfrm>
            <a:off x="9729216" y="48280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9729216" y="50840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9198864" y="537667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records, results, prescriptions, vitals, bills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CONTROL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Authentication and Security Flow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Bearer token issued at login, validated on every request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2592324" cy="841248"/>
          </a:xfrm>
          <a:prstGeom prst="roundRect">
            <a:avLst>
              <a:gd name="adj" fmla="val 173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" y="1938528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130552"/>
            <a:ext cx="23728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 /auth/login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9252" y="2295144"/>
            <a:ext cx="219456" cy="914"/>
          </a:xfrm>
          <a:prstGeom prst="line">
            <a:avLst/>
          </a:prstGeom>
          <a:noFill/>
          <a:ln w="20320">
            <a:solidFill>
              <a:srgbClr val="2A835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78708" y="1874520"/>
            <a:ext cx="2592324" cy="841248"/>
          </a:xfrm>
          <a:prstGeom prst="roundRect">
            <a:avLst>
              <a:gd name="adj" fmla="val 173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88436" y="1938528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488436" y="2130552"/>
            <a:ext cx="23728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bcrypt verify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71032" y="2295144"/>
            <a:ext cx="219456" cy="914"/>
          </a:xfrm>
          <a:prstGeom prst="line">
            <a:avLst/>
          </a:prstGeom>
          <a:noFill/>
          <a:ln w="20320">
            <a:solidFill>
              <a:srgbClr val="2A83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0488" y="1874520"/>
            <a:ext cx="2592324" cy="841248"/>
          </a:xfrm>
          <a:prstGeom prst="roundRect">
            <a:avLst>
              <a:gd name="adj" fmla="val 173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0216" y="1938528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2130552"/>
            <a:ext cx="23728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JWT signed by python-jose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82812" y="2295144"/>
            <a:ext cx="219456" cy="914"/>
          </a:xfrm>
          <a:prstGeom prst="line">
            <a:avLst/>
          </a:prstGeom>
          <a:noFill/>
          <a:ln w="20320">
            <a:solidFill>
              <a:srgbClr val="2A835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02268" y="1874520"/>
            <a:ext cx="2592324" cy="841248"/>
          </a:xfrm>
          <a:prstGeom prst="roundRect">
            <a:avLst>
              <a:gd name="adj" fmla="val 173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1996" y="1938528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9111996" y="2130552"/>
            <a:ext cx="23728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sends Authorization: Bearer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72818" y="2825496"/>
            <a:ext cx="2592324" cy="841248"/>
          </a:xfrm>
          <a:prstGeom prst="roundRect">
            <a:avLst>
              <a:gd name="adj" fmla="val 173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82546" y="2889504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082546" y="3081528"/>
            <a:ext cx="23728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HTTPBearer extracts token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65142" y="3246120"/>
            <a:ext cx="219456" cy="914"/>
          </a:xfrm>
          <a:prstGeom prst="line">
            <a:avLst/>
          </a:prstGeom>
          <a:noFill/>
          <a:ln w="20320">
            <a:solidFill>
              <a:srgbClr val="2A835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784598" y="2825496"/>
            <a:ext cx="2592324" cy="841248"/>
          </a:xfrm>
          <a:prstGeom prst="roundRect">
            <a:avLst>
              <a:gd name="adj" fmla="val 173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94326" y="2889504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4894326" y="3081528"/>
            <a:ext cx="23728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Resolve user, check is_active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76922" y="3246120"/>
            <a:ext cx="219456" cy="914"/>
          </a:xfrm>
          <a:prstGeom prst="line">
            <a:avLst/>
          </a:prstGeom>
          <a:noFill/>
          <a:ln w="20320">
            <a:solidFill>
              <a:srgbClr val="2A835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96378" y="2825496"/>
            <a:ext cx="2592324" cy="841248"/>
          </a:xfrm>
          <a:prstGeom prst="roundRect">
            <a:avLst>
              <a:gd name="adj" fmla="val 173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06106" y="2889504"/>
            <a:ext cx="2372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7706106" y="3081528"/>
            <a:ext cx="23728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require_role gate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298430" y="2715768"/>
            <a:ext cx="914" cy="914"/>
          </a:xfrm>
          <a:prstGeom prst="line">
            <a:avLst/>
          </a:prstGeom>
          <a:noFill/>
          <a:ln w="20320">
            <a:solidFill>
              <a:srgbClr val="2A835F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3268980" y="2715768"/>
            <a:ext cx="7029450" cy="914"/>
          </a:xfrm>
          <a:prstGeom prst="line">
            <a:avLst/>
          </a:prstGeom>
          <a:noFill/>
          <a:ln w="20320">
            <a:solidFill>
              <a:srgbClr val="2A835F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32688" y="3840480"/>
            <a:ext cx="10296144" cy="62179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2688" y="3950208"/>
            <a:ext cx="91440" cy="402336"/>
          </a:xfrm>
          <a:prstGeom prst="roundRect">
            <a:avLst>
              <a:gd name="adj" fmla="val 160000"/>
            </a:avLst>
          </a:prstGeom>
          <a:solidFill>
            <a:srgbClr val="C9A22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170432" y="389534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Password storage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315968" y="3895344"/>
            <a:ext cx="6821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Passlib CryptContext with the bcrypt scheme. Hashing rejects any password longer than 72 bytes, and verification refuses the same.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32688" y="4572000"/>
            <a:ext cx="10296144" cy="62179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" y="4681728"/>
            <a:ext cx="91440" cy="402336"/>
          </a:xfrm>
          <a:prstGeom prst="roundRect">
            <a:avLst>
              <a:gd name="adj" fmla="val 160000"/>
            </a:avLst>
          </a:prstGeom>
          <a:solidFill>
            <a:srgbClr val="C9A22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170432" y="462686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 contents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315968" y="4626864"/>
            <a:ext cx="6821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subject claim carries the numeric user id. A missing, malformed or undecodable token is rejected before any database access.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2688" y="5303520"/>
            <a:ext cx="10296144" cy="62179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2688" y="5413248"/>
            <a:ext cx="91440" cy="402336"/>
          </a:xfrm>
          <a:prstGeom prst="roundRect">
            <a:avLst>
              <a:gd name="adj" fmla="val 160000"/>
            </a:avLst>
          </a:prstGeom>
          <a:solidFill>
            <a:srgbClr val="C9A22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170432" y="535838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Failure responses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315968" y="5358384"/>
            <a:ext cx="6821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 or invalid credentials return 401 with a WWW-Authenticate: Bearer header. An inactive account or a failed role check returns 403.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0 — Context Diagram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entire hospital function represented as a single process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97442" y="1865376"/>
            <a:ext cx="9366637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pic>
        <p:nvPicPr>
          <p:cNvPr id="9" name="Image 0" descr="E:\minor project HMS\deck-build\assets\diagrams\df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882" y="1956816"/>
            <a:ext cx="9183757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Six major processes over the supporting data stores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4077" y="1865376"/>
            <a:ext cx="7233366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pic>
        <p:nvPicPr>
          <p:cNvPr id="9" name="Image 0" descr="E:\minor project HMS\deck-build\assets\diagrams\df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517" y="1956816"/>
            <a:ext cx="7050486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2 — Patient and Registration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00260" y="1865376"/>
            <a:ext cx="7161000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pic>
        <p:nvPicPr>
          <p:cNvPr id="8" name="Image 0" descr="E:\minor project HMS\deck-build\assets\diagrams\dfd2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700" y="1956816"/>
            <a:ext cx="697812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2 — Appointments and Scheduling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78362" y="1865376"/>
            <a:ext cx="6004796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pic>
        <p:nvPicPr>
          <p:cNvPr id="8" name="Image 0" descr="E:\minor project HMS\deck-build\assets\diagrams\dfd2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802" y="1956816"/>
            <a:ext cx="5821916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2 — Clinical Records and Vitals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03234" y="1865376"/>
            <a:ext cx="7355052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pic>
        <p:nvPicPr>
          <p:cNvPr id="8" name="Image 0" descr="E:\minor project HMS\deck-build\assets\diagrams\dfd2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674" y="1956816"/>
            <a:ext cx="7172172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2 — Pharmacy and Inventory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71216" y="1865376"/>
            <a:ext cx="6419088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pic>
        <p:nvPicPr>
          <p:cNvPr id="8" name="Image 0" descr="E:\minor project HMS\deck-build\assets\diagrams\dfd2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1956816"/>
            <a:ext cx="6236208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2 — Laboratory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67034" y="1865376"/>
            <a:ext cx="6427453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pic>
        <p:nvPicPr>
          <p:cNvPr id="8" name="Image 0" descr="E:\minor project HMS\deck-build\assets\diagrams\dfd2_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474" y="1956816"/>
            <a:ext cx="6244573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2 — Billing and Payments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68201" y="1865376"/>
            <a:ext cx="5025117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pic>
        <p:nvPicPr>
          <p:cNvPr id="8" name="Image 0" descr="E:\minor project HMS\deck-build\assets\diagrams\dfd2_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641" y="1956816"/>
            <a:ext cx="4842237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DFD Level 2 — Infrastructure and Support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/ 45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kern="0" spc="120" dirty="0">
                <a:solidFill>
                  <a:srgbClr val="6C86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EXTERNAL ENTITIES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310128" y="15727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kern="0" spc="120" dirty="0">
                <a:solidFill>
                  <a:srgbClr val="6C86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059168" y="1572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kern="0" spc="120" dirty="0">
                <a:solidFill>
                  <a:srgbClr val="6C86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STORES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747504" y="15727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kern="0" spc="120" dirty="0">
                <a:solidFill>
                  <a:srgbClr val="6C86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2011680"/>
            <a:ext cx="2286000" cy="603504"/>
          </a:xfrm>
          <a:prstGeom prst="roundRect">
            <a:avLst>
              <a:gd name="adj" fmla="val 24242"/>
            </a:avLst>
          </a:prstGeom>
          <a:solidFill>
            <a:srgbClr val="2A835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01168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2286000" cy="603504"/>
          </a:xfrm>
          <a:prstGeom prst="roundRect">
            <a:avLst>
              <a:gd name="adj" fmla="val 24242"/>
            </a:avLst>
          </a:prstGeom>
          <a:solidFill>
            <a:srgbClr val="2A835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29184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Nurse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4572000"/>
            <a:ext cx="2286000" cy="603504"/>
          </a:xfrm>
          <a:prstGeom prst="roundRect">
            <a:avLst>
              <a:gd name="adj" fmla="val 24242"/>
            </a:avLst>
          </a:prstGeom>
          <a:solidFill>
            <a:srgbClr val="2A835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57200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Receptionist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10128" y="2121408"/>
            <a:ext cx="1508760" cy="731520"/>
          </a:xfrm>
          <a:prstGeom prst="roundRect">
            <a:avLst>
              <a:gd name="adj" fmla="val 20000"/>
            </a:avLst>
          </a:prstGeom>
          <a:solidFill>
            <a:srgbClr val="8BBB92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30752" y="2121408"/>
            <a:ext cx="101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923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Register hospital and department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16712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01768" y="2121408"/>
            <a:ext cx="1508760" cy="731520"/>
          </a:xfrm>
          <a:prstGeom prst="roundRect">
            <a:avLst>
              <a:gd name="adj" fmla="val 20000"/>
            </a:avLst>
          </a:prstGeom>
          <a:solidFill>
            <a:srgbClr val="8BBB92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22392" y="2121408"/>
            <a:ext cx="101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923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 rooms and beds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216712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10128" y="3401568"/>
            <a:ext cx="1508760" cy="731520"/>
          </a:xfrm>
          <a:prstGeom prst="roundRect">
            <a:avLst>
              <a:gd name="adj" fmla="val 20000"/>
            </a:avLst>
          </a:prstGeom>
          <a:solidFill>
            <a:srgbClr val="8BBB92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30752" y="3401568"/>
            <a:ext cx="101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923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Maintain employees and doctors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34472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01768" y="3401568"/>
            <a:ext cx="1508760" cy="731520"/>
          </a:xfrm>
          <a:prstGeom prst="roundRect">
            <a:avLst>
              <a:gd name="adj" fmla="val 20000"/>
            </a:avLst>
          </a:prstGeom>
          <a:solidFill>
            <a:srgbClr val="8BBB92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22392" y="3401568"/>
            <a:ext cx="101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923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Publish dashboards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34472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4681728"/>
            <a:ext cx="1508760" cy="731520"/>
          </a:xfrm>
          <a:prstGeom prst="roundRect">
            <a:avLst>
              <a:gd name="adj" fmla="val 20000"/>
            </a:avLst>
          </a:prstGeom>
          <a:solidFill>
            <a:srgbClr val="8BBB92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30752" y="4681728"/>
            <a:ext cx="101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923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 assistant queries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383280" y="472744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59168" y="2011680"/>
            <a:ext cx="2286000" cy="603504"/>
          </a:xfrm>
          <a:prstGeom prst="can">
            <a:avLst/>
          </a:prstGeom>
          <a:solidFill>
            <a:srgbClr val="EAF3EE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50608" y="20116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59168" y="2651760"/>
            <a:ext cx="2286000" cy="603504"/>
          </a:xfrm>
          <a:prstGeom prst="can">
            <a:avLst/>
          </a:prstGeom>
          <a:solidFill>
            <a:srgbClr val="EAF3EE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50608" y="265176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departments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59168" y="3291840"/>
            <a:ext cx="2286000" cy="603504"/>
          </a:xfrm>
          <a:prstGeom prst="can">
            <a:avLst/>
          </a:prstGeom>
          <a:solidFill>
            <a:srgbClr val="EAF3EE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50608" y="329184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rooms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059168" y="3931920"/>
            <a:ext cx="2286000" cy="603504"/>
          </a:xfrm>
          <a:prstGeom prst="can">
            <a:avLst/>
          </a:prstGeom>
          <a:solidFill>
            <a:srgbClr val="EAF3EE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50608" y="39319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beds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59168" y="4572000"/>
            <a:ext cx="2286000" cy="603504"/>
          </a:xfrm>
          <a:prstGeom prst="can">
            <a:avLst/>
          </a:prstGeom>
          <a:solidFill>
            <a:srgbClr val="EAF3EE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50608" y="457200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059168" y="5212080"/>
            <a:ext cx="2286000" cy="603504"/>
          </a:xfrm>
          <a:prstGeom prst="can">
            <a:avLst/>
          </a:prstGeom>
          <a:solidFill>
            <a:srgbClr val="EAF3EE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150608" y="52120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stats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747504" y="2011680"/>
            <a:ext cx="1847088" cy="603504"/>
          </a:xfrm>
          <a:prstGeom prst="roundRect">
            <a:avLst>
              <a:gd name="adj" fmla="val 24242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838944" y="201168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Availability view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747504" y="3291840"/>
            <a:ext cx="1847088" cy="603504"/>
          </a:xfrm>
          <a:prstGeom prst="roundRect">
            <a:avLst>
              <a:gd name="adj" fmla="val 24242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838944" y="329184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Headcount summary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747504" y="4572000"/>
            <a:ext cx="1847088" cy="603504"/>
          </a:xfrm>
          <a:prstGeom prst="roundRect">
            <a:avLst>
              <a:gd name="adj" fmla="val 24242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838944" y="457200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Assistant answer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852928" y="2313432"/>
            <a:ext cx="457200" cy="173736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4818888" y="2313432"/>
            <a:ext cx="2240280" cy="173736"/>
          </a:xfrm>
          <a:prstGeom prst="line">
            <a:avLst/>
          </a:prstGeom>
          <a:noFill/>
          <a:ln w="16510">
            <a:solidFill>
              <a:srgbClr val="12544F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345168" y="2313432"/>
            <a:ext cx="402336" cy="914"/>
          </a:xfrm>
          <a:prstGeom prst="line">
            <a:avLst/>
          </a:prstGeom>
          <a:noFill/>
          <a:ln w="15240">
            <a:solidFill>
              <a:srgbClr val="12544F"/>
            </a:solidFill>
            <a:prstDash val="dash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 flipV="1">
            <a:off x="2852928" y="2487168"/>
            <a:ext cx="2148840" cy="1106424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510528" y="2487168"/>
            <a:ext cx="548640" cy="466344"/>
          </a:xfrm>
          <a:prstGeom prst="line">
            <a:avLst/>
          </a:prstGeom>
          <a:noFill/>
          <a:ln w="16510">
            <a:solidFill>
              <a:srgbClr val="12544F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345168" y="2953512"/>
            <a:ext cx="402336" cy="640080"/>
          </a:xfrm>
          <a:prstGeom prst="line">
            <a:avLst/>
          </a:prstGeom>
          <a:noFill/>
          <a:ln w="15240">
            <a:solidFill>
              <a:srgbClr val="12544F"/>
            </a:solidFill>
            <a:prstDash val="dash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2852928" y="3767328"/>
            <a:ext cx="457200" cy="1106424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 flipV="1">
            <a:off x="4818888" y="3593592"/>
            <a:ext cx="2240280" cy="173736"/>
          </a:xfrm>
          <a:prstGeom prst="line">
            <a:avLst/>
          </a:prstGeom>
          <a:noFill/>
          <a:ln w="16510">
            <a:solidFill>
              <a:srgbClr val="12544F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345168" y="3593592"/>
            <a:ext cx="402336" cy="1280160"/>
          </a:xfrm>
          <a:prstGeom prst="line">
            <a:avLst/>
          </a:prstGeom>
          <a:noFill/>
          <a:ln w="15240">
            <a:solidFill>
              <a:srgbClr val="12544F"/>
            </a:solidFill>
            <a:prstDash val="dash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852928" y="2313432"/>
            <a:ext cx="2148840" cy="1453896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510528" y="3767328"/>
            <a:ext cx="548640" cy="466344"/>
          </a:xfrm>
          <a:prstGeom prst="line">
            <a:avLst/>
          </a:prstGeom>
          <a:noFill/>
          <a:ln w="16510">
            <a:solidFill>
              <a:srgbClr val="12544F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 flipV="1">
            <a:off x="9345168" y="2313432"/>
            <a:ext cx="402336" cy="1920240"/>
          </a:xfrm>
          <a:prstGeom prst="line">
            <a:avLst/>
          </a:prstGeom>
          <a:noFill/>
          <a:ln w="15240">
            <a:solidFill>
              <a:srgbClr val="12544F"/>
            </a:solidFill>
            <a:prstDash val="dash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2852928" y="3593592"/>
            <a:ext cx="457200" cy="1453896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 flipV="1">
            <a:off x="4818888" y="4873752"/>
            <a:ext cx="2240280" cy="173736"/>
          </a:xfrm>
          <a:prstGeom prst="line">
            <a:avLst/>
          </a:prstGeom>
          <a:noFill/>
          <a:ln w="16510">
            <a:solidFill>
              <a:srgbClr val="12544F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 flipV="1">
            <a:off x="9345168" y="3593592"/>
            <a:ext cx="402336" cy="1280160"/>
          </a:xfrm>
          <a:prstGeom prst="line">
            <a:avLst/>
          </a:prstGeom>
          <a:noFill/>
          <a:ln w="15240">
            <a:solidFill>
              <a:srgbClr val="12544F"/>
            </a:solidFill>
            <a:prstDash val="dash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66928" y="5916168"/>
            <a:ext cx="237744" cy="164592"/>
          </a:xfrm>
          <a:prstGeom prst="roundRect">
            <a:avLst>
              <a:gd name="adj" fmla="val 88889"/>
            </a:avLst>
          </a:prstGeom>
          <a:solidFill>
            <a:srgbClr val="2A835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68680" y="5888736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External entity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103120" y="5916168"/>
            <a:ext cx="237744" cy="164592"/>
          </a:xfrm>
          <a:prstGeom prst="roundRect">
            <a:avLst>
              <a:gd name="adj" fmla="val 88889"/>
            </a:avLst>
          </a:prstGeom>
          <a:solidFill>
            <a:srgbClr val="8BBB92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404872" y="5888736"/>
            <a:ext cx="470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185770" y="5916168"/>
            <a:ext cx="237744" cy="164592"/>
          </a:xfrm>
          <a:prstGeom prst="roundRect">
            <a:avLst>
              <a:gd name="adj" fmla="val 88889"/>
            </a:avLst>
          </a:prstGeom>
          <a:solidFill>
            <a:srgbClr val="EAF3EE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487522" y="58887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store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438498" y="5916168"/>
            <a:ext cx="237744" cy="164592"/>
          </a:xfrm>
          <a:prstGeom prst="roundRect">
            <a:avLst>
              <a:gd name="adj" fmla="val 88889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740250" y="5888736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 / report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DESIGN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ERD — Identity, Access and Setup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Seven entities: who exists, what they may do, and where they sit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43539" y="1865376"/>
            <a:ext cx="7474441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pic>
        <p:nvPicPr>
          <p:cNvPr id="9" name="Image 0" descr="E:\minor project HMS\deck-build\assets\diagrams\er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979" y="1956816"/>
            <a:ext cx="7291561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DESIGN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ERD — Clinical Workflow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 entities linking a patient to every clinical event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412" y="1865376"/>
            <a:ext cx="7588696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pic>
        <p:nvPicPr>
          <p:cNvPr id="9" name="Image 0" descr="E:\minor project HMS\deck-build\assets\diagrams\e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852" y="1956816"/>
            <a:ext cx="7405816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DESIGN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ERD — Diagnostics, Pharmacy and Finance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Twelve entities closing the prescription-to-payment chain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83664"/>
            <a:ext cx="2331720" cy="1046988"/>
          </a:xfrm>
          <a:prstGeom prst="roundRect">
            <a:avLst>
              <a:gd name="adj" fmla="val 13974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83664"/>
            <a:ext cx="2331720" cy="274320"/>
          </a:xfrm>
          <a:prstGeom prst="rect">
            <a:avLst/>
          </a:prstGeom>
          <a:solidFill>
            <a:srgbClr val="1254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188366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test_types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17627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3911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6060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65576" y="1883664"/>
            <a:ext cx="23317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65576" y="1883664"/>
            <a:ext cx="2331720" cy="274320"/>
          </a:xfrm>
          <a:prstGeom prst="rect">
            <a:avLst/>
          </a:prstGeom>
          <a:solidFill>
            <a:srgbClr val="1254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20440" y="188366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lab_tests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557016" y="217627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557016" y="23911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*test_types_id FK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557016" y="26060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*patients_id FK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3557016" y="282092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*doctors_id FK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64224" y="1883664"/>
            <a:ext cx="23317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64224" y="1883664"/>
            <a:ext cx="2331720" cy="274320"/>
          </a:xfrm>
          <a:prstGeom prst="rect">
            <a:avLst/>
          </a:prstGeom>
          <a:solidFill>
            <a:srgbClr val="1254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19088" y="188366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lab_results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217627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455664" y="23911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*lab_tests_id FK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455664" y="26060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result_value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455664" y="282092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reported_at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62872" y="1883664"/>
            <a:ext cx="23317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62872" y="1883664"/>
            <a:ext cx="2331720" cy="274320"/>
          </a:xfrm>
          <a:prstGeom prst="rect">
            <a:avLst/>
          </a:prstGeom>
          <a:solidFill>
            <a:srgbClr val="12544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317736" y="188366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prescriptions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354312" y="217627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354312" y="23911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*patients_id FK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9354312" y="26060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*doctors_id FK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9354312" y="282092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*pharmacies_id FK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6928" y="3419856"/>
            <a:ext cx="23317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" y="3419856"/>
            <a:ext cx="2331720" cy="274320"/>
          </a:xfrm>
          <a:prstGeom prst="rect">
            <a:avLst/>
          </a:prstGeom>
          <a:solidFill>
            <a:srgbClr val="12544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1792" y="341985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medicines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71246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92734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414223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435711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unit_price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465576" y="3419856"/>
            <a:ext cx="23317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65576" y="3419856"/>
            <a:ext cx="2331720" cy="274320"/>
          </a:xfrm>
          <a:prstGeom prst="rect">
            <a:avLst/>
          </a:prstGeom>
          <a:solidFill>
            <a:srgbClr val="12544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520440" y="341985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medicine_batches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3557016" y="371246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3557016" y="392734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*medicines_id FK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3557016" y="414223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batch_no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3557016" y="435711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expiry_date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64224" y="3419856"/>
            <a:ext cx="2331720" cy="1046988"/>
          </a:xfrm>
          <a:prstGeom prst="roundRect">
            <a:avLst>
              <a:gd name="adj" fmla="val 13974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64224" y="3419856"/>
            <a:ext cx="2331720" cy="274320"/>
          </a:xfrm>
          <a:prstGeom prst="rect">
            <a:avLst/>
          </a:prstGeom>
          <a:solidFill>
            <a:srgbClr val="12544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419088" y="341985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pharmacies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455664" y="371246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6455664" y="392734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*hospitals_id FK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6455664" y="414223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262872" y="3419856"/>
            <a:ext cx="23317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262872" y="3419856"/>
            <a:ext cx="2331720" cy="274320"/>
          </a:xfrm>
          <a:prstGeom prst="rect">
            <a:avLst/>
          </a:prstGeom>
          <a:solidFill>
            <a:srgbClr val="12544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317736" y="341985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pharmacy_stock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9354312" y="371246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9354312" y="392734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*pharmacies_id FK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9354312" y="414223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*medicine_batches_id FK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9354312" y="435711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quantity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66928" y="4956048"/>
            <a:ext cx="2331720" cy="1046988"/>
          </a:xfrm>
          <a:prstGeom prst="roundRect">
            <a:avLst>
              <a:gd name="adj" fmla="val 13974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6928" y="4956048"/>
            <a:ext cx="2331720" cy="274320"/>
          </a:xfrm>
          <a:prstGeom prst="rect">
            <a:avLst/>
          </a:prstGeom>
          <a:solidFill>
            <a:srgbClr val="12544F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21792" y="495604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prescription_medicines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52486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*prescriptions_id FK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54635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*medicines_id FK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567842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dosage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465576" y="4956048"/>
            <a:ext cx="23317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65576" y="4956048"/>
            <a:ext cx="2331720" cy="274320"/>
          </a:xfrm>
          <a:prstGeom prst="rect">
            <a:avLst/>
          </a:prstGeom>
          <a:solidFill>
            <a:srgbClr val="12544F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3520440" y="495604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invoices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3557016" y="52486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72" name="Text 70"/>
          <p:cNvSpPr txBox="1"/>
          <p:nvPr/>
        </p:nvSpPr>
        <p:spPr>
          <a:xfrm>
            <a:off x="3557016" y="54635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*patients_id FK</a:t>
            </a:r>
            <a:endParaRPr 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3557016" y="567842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total_amount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3557016" y="589330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364224" y="4956048"/>
            <a:ext cx="23317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64224" y="4956048"/>
            <a:ext cx="2331720" cy="274320"/>
          </a:xfrm>
          <a:prstGeom prst="rect">
            <a:avLst/>
          </a:prstGeom>
          <a:solidFill>
            <a:srgbClr val="12544F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6419088" y="495604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invoice_items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6455664" y="52486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6455664" y="54635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*invoices_id FK</a:t>
            </a:r>
            <a:endParaRPr lang="en-US" sz="850" dirty="0"/>
          </a:p>
        </p:txBody>
      </p:sp>
      <p:sp>
        <p:nvSpPr>
          <p:cNvPr id="80" name="Text 78"/>
          <p:cNvSpPr txBox="1"/>
          <p:nvPr/>
        </p:nvSpPr>
        <p:spPr>
          <a:xfrm>
            <a:off x="6455664" y="567842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81" name="Text 79"/>
          <p:cNvSpPr txBox="1"/>
          <p:nvPr/>
        </p:nvSpPr>
        <p:spPr>
          <a:xfrm>
            <a:off x="6455664" y="589330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amount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9262872" y="4956048"/>
            <a:ext cx="23317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262872" y="4956048"/>
            <a:ext cx="2331720" cy="274320"/>
          </a:xfrm>
          <a:prstGeom prst="rect">
            <a:avLst/>
          </a:prstGeom>
          <a:solidFill>
            <a:srgbClr val="12544F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317736" y="495604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payments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9354312" y="52486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*id PK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9354312" y="54635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*invoices_id FK</a:t>
            </a:r>
            <a:endParaRPr 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9354312" y="567842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amount</a:t>
            </a:r>
            <a:endParaRPr 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9354312" y="589330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method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898648" y="2407158"/>
            <a:ext cx="201168" cy="914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3099816" y="2407158"/>
            <a:ext cx="914" cy="107442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3099816" y="2514600"/>
            <a:ext cx="365760" cy="914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2980944" y="2306574"/>
            <a:ext cx="237744" cy="201168"/>
          </a:xfrm>
          <a:prstGeom prst="roundRect">
            <a:avLst>
              <a:gd name="adj" fmla="val 72727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2980944" y="230657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980944" y="2633472"/>
            <a:ext cx="237744" cy="201168"/>
          </a:xfrm>
          <a:prstGeom prst="roundRect">
            <a:avLst>
              <a:gd name="adj" fmla="val 72727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2980944" y="263347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797296" y="2514600"/>
            <a:ext cx="566928" cy="914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5824728" y="2414016"/>
            <a:ext cx="237744" cy="201168"/>
          </a:xfrm>
          <a:prstGeom prst="roundRect">
            <a:avLst>
              <a:gd name="adj" fmla="val 72727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5824728" y="24140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9061704" y="2514600"/>
            <a:ext cx="201168" cy="914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9061704" y="2514600"/>
            <a:ext cx="914" cy="2964942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2898648" y="5479542"/>
            <a:ext cx="6163056" cy="914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8942832" y="2414016"/>
            <a:ext cx="237744" cy="201168"/>
          </a:xfrm>
          <a:prstGeom prst="roundRect">
            <a:avLst>
              <a:gd name="adj" fmla="val 72727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942832" y="24140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8942832" y="5378958"/>
            <a:ext cx="237744" cy="201168"/>
          </a:xfrm>
          <a:prstGeom prst="roundRect">
            <a:avLst>
              <a:gd name="adj" fmla="val 72727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8942832" y="537895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732788" y="4681728"/>
            <a:ext cx="914" cy="274320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1613916" y="4727448"/>
            <a:ext cx="237744" cy="201168"/>
          </a:xfrm>
          <a:prstGeom prst="roundRect">
            <a:avLst>
              <a:gd name="adj" fmla="val 72727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1613916" y="472744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2898648" y="4050792"/>
            <a:ext cx="566928" cy="914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110" name="Shape 108"/>
          <p:cNvSpPr/>
          <p:nvPr/>
        </p:nvSpPr>
        <p:spPr>
          <a:xfrm>
            <a:off x="2926080" y="3950208"/>
            <a:ext cx="237744" cy="201168"/>
          </a:xfrm>
          <a:prstGeom prst="roundRect">
            <a:avLst>
              <a:gd name="adj" fmla="val 72727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2926080" y="395020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5797296" y="4050792"/>
            <a:ext cx="3465576" cy="914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5824728" y="3950208"/>
            <a:ext cx="237744" cy="201168"/>
          </a:xfrm>
          <a:prstGeom prst="roundRect">
            <a:avLst>
              <a:gd name="adj" fmla="val 72727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5824728" y="395020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8695944" y="3943350"/>
            <a:ext cx="201168" cy="914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116" name="Shape 114"/>
          <p:cNvSpPr/>
          <p:nvPr/>
        </p:nvSpPr>
        <p:spPr>
          <a:xfrm>
            <a:off x="8897112" y="3943350"/>
            <a:ext cx="914" cy="107442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117" name="Shape 115"/>
          <p:cNvSpPr/>
          <p:nvPr/>
        </p:nvSpPr>
        <p:spPr>
          <a:xfrm>
            <a:off x="8897112" y="4050792"/>
            <a:ext cx="365760" cy="914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118" name="Shape 116"/>
          <p:cNvSpPr/>
          <p:nvPr/>
        </p:nvSpPr>
        <p:spPr>
          <a:xfrm>
            <a:off x="8778240" y="3842766"/>
            <a:ext cx="237744" cy="201168"/>
          </a:xfrm>
          <a:prstGeom prst="roundRect">
            <a:avLst>
              <a:gd name="adj" fmla="val 72727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8778240" y="384276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8778240" y="4169664"/>
            <a:ext cx="237744" cy="201168"/>
          </a:xfrm>
          <a:prstGeom prst="roundRect">
            <a:avLst>
              <a:gd name="adj" fmla="val 72727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778240" y="41696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8695944" y="3943350"/>
            <a:ext cx="201168" cy="914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123" name="Shape 121"/>
          <p:cNvSpPr/>
          <p:nvPr/>
        </p:nvSpPr>
        <p:spPr>
          <a:xfrm flipV="1">
            <a:off x="8897112" y="2514600"/>
            <a:ext cx="914" cy="1428750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124" name="Shape 122"/>
          <p:cNvSpPr/>
          <p:nvPr/>
        </p:nvSpPr>
        <p:spPr>
          <a:xfrm>
            <a:off x="8897112" y="2514600"/>
            <a:ext cx="365760" cy="914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8778240" y="3623310"/>
            <a:ext cx="237744" cy="201168"/>
          </a:xfrm>
          <a:prstGeom prst="roundRect">
            <a:avLst>
              <a:gd name="adj" fmla="val 72727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8778240" y="362331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8778240" y="2633472"/>
            <a:ext cx="237744" cy="201168"/>
          </a:xfrm>
          <a:prstGeom prst="roundRect">
            <a:avLst>
              <a:gd name="adj" fmla="val 72727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8778240" y="263347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5797296" y="5586984"/>
            <a:ext cx="566928" cy="914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130" name="Shape 128"/>
          <p:cNvSpPr/>
          <p:nvPr/>
        </p:nvSpPr>
        <p:spPr>
          <a:xfrm>
            <a:off x="5824728" y="5486400"/>
            <a:ext cx="237744" cy="201168"/>
          </a:xfrm>
          <a:prstGeom prst="roundRect">
            <a:avLst>
              <a:gd name="adj" fmla="val 72727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5824728" y="548640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5797296" y="5586984"/>
            <a:ext cx="3465576" cy="914"/>
          </a:xfrm>
          <a:prstGeom prst="line">
            <a:avLst/>
          </a:prstGeom>
          <a:noFill/>
          <a:ln w="15240">
            <a:solidFill>
              <a:srgbClr val="12544F"/>
            </a:solidFill>
            <a:prstDash val="solid"/>
            <a:headEnd type="none"/>
            <a:tailEnd type="none"/>
          </a:ln>
        </p:spPr>
      </p:sp>
      <p:sp>
        <p:nvSpPr>
          <p:cNvPr id="133" name="Shape 131"/>
          <p:cNvSpPr/>
          <p:nvPr/>
        </p:nvSpPr>
        <p:spPr>
          <a:xfrm>
            <a:off x="5824728" y="5705856"/>
            <a:ext cx="237744" cy="201168"/>
          </a:xfrm>
          <a:prstGeom prst="roundRect">
            <a:avLst>
              <a:gd name="adj" fmla="val 72727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5824728" y="570585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254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DESIGN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Schema Overview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27 tables grouped into eight domains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/ 45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6928" y="1783080"/>
            <a:ext cx="2578608" cy="2034540"/>
          </a:xfrm>
          <a:prstGeom prst="roundRect">
            <a:avLst>
              <a:gd name="adj" fmla="val 71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" y="1783080"/>
            <a:ext cx="2578608" cy="347472"/>
          </a:xfrm>
          <a:prstGeom prst="roundRect">
            <a:avLst>
              <a:gd name="adj" fmla="val 42105"/>
            </a:avLst>
          </a:prstGeom>
          <a:solidFill>
            <a:srgbClr val="12544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4944" y="1783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&amp; Access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9808" y="2240280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22402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49808" y="2551176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" y="25511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49808" y="2862072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" y="28620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49808" y="3172968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1248" y="317296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49808" y="3483864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" y="348386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383280" y="1783080"/>
            <a:ext cx="2578608" cy="2034540"/>
          </a:xfrm>
          <a:prstGeom prst="roundRect">
            <a:avLst>
              <a:gd name="adj" fmla="val 71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83280" y="1783080"/>
            <a:ext cx="2578608" cy="347472"/>
          </a:xfrm>
          <a:prstGeom prst="roundRect">
            <a:avLst>
              <a:gd name="adj" fmla="val 42105"/>
            </a:avLst>
          </a:prstGeom>
          <a:solidFill>
            <a:srgbClr val="12544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511296" y="1783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Setup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566160" y="2240280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657600" y="22402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566160" y="2551176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57600" y="25511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566160" y="2862072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657600" y="28620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rooms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566160" y="3172968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657600" y="317296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beds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199632" y="1783080"/>
            <a:ext cx="2578608" cy="2034540"/>
          </a:xfrm>
          <a:prstGeom prst="roundRect">
            <a:avLst>
              <a:gd name="adj" fmla="val 71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99632" y="1783080"/>
            <a:ext cx="2578608" cy="347472"/>
          </a:xfrm>
          <a:prstGeom prst="roundRect">
            <a:avLst>
              <a:gd name="adj" fmla="val 42105"/>
            </a:avLst>
          </a:prstGeom>
          <a:solidFill>
            <a:srgbClr val="12544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327648" y="1783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Clinical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382512" y="2240280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73952" y="22402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382512" y="2551176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5511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doctor_schedules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382512" y="2862072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473952" y="28620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medical_records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382512" y="3172968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17296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vitals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9015984" y="1783080"/>
            <a:ext cx="2578608" cy="2034540"/>
          </a:xfrm>
          <a:prstGeom prst="roundRect">
            <a:avLst>
              <a:gd name="adj" fmla="val 71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015984" y="1783080"/>
            <a:ext cx="2578608" cy="347472"/>
          </a:xfrm>
          <a:prstGeom prst="roundRect">
            <a:avLst>
              <a:gd name="adj" fmla="val 42105"/>
            </a:avLst>
          </a:prstGeom>
          <a:solidFill>
            <a:srgbClr val="12544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9144000" y="1783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Inpatient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9198864" y="2240280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90304" y="22402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admissions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9198864" y="2551176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290304" y="25511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nurse_assignments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66928" y="4018788"/>
            <a:ext cx="2578608" cy="2034540"/>
          </a:xfrm>
          <a:prstGeom prst="roundRect">
            <a:avLst>
              <a:gd name="adj" fmla="val 71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66928" y="4018788"/>
            <a:ext cx="2578608" cy="347472"/>
          </a:xfrm>
          <a:prstGeom prst="roundRect">
            <a:avLst>
              <a:gd name="adj" fmla="val 42105"/>
            </a:avLst>
          </a:prstGeom>
          <a:solidFill>
            <a:srgbClr val="12544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694944" y="40187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Laboratory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749808" y="4475988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41248" y="447598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test_types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749808" y="4786884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41248" y="47868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lab_tests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749808" y="5097780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41248" y="50977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lab_results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3383280" y="4018788"/>
            <a:ext cx="2578608" cy="2034540"/>
          </a:xfrm>
          <a:prstGeom prst="roundRect">
            <a:avLst>
              <a:gd name="adj" fmla="val 71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383280" y="4018788"/>
            <a:ext cx="2578608" cy="347472"/>
          </a:xfrm>
          <a:prstGeom prst="roundRect">
            <a:avLst>
              <a:gd name="adj" fmla="val 42105"/>
            </a:avLst>
          </a:prstGeom>
          <a:solidFill>
            <a:srgbClr val="12544F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3511296" y="40187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Pharmacy</a:t>
            </a:r>
            <a:endParaRPr lang="en-US" sz="1150" dirty="0"/>
          </a:p>
        </p:txBody>
      </p:sp>
      <p:sp>
        <p:nvSpPr>
          <p:cNvPr id="63" name="Shape 60"/>
          <p:cNvSpPr/>
          <p:nvPr/>
        </p:nvSpPr>
        <p:spPr>
          <a:xfrm>
            <a:off x="3566160" y="4475988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3657600" y="447598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medicines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3566160" y="4786884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3657600" y="47868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medicine_batches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3566160" y="5097780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3657600" y="50977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pharmacies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3566160" y="5408676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3657600" y="54086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pharmacy_stock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6199632" y="4018788"/>
            <a:ext cx="2578608" cy="2034540"/>
          </a:xfrm>
          <a:prstGeom prst="roundRect">
            <a:avLst>
              <a:gd name="adj" fmla="val 71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199632" y="4018788"/>
            <a:ext cx="2578608" cy="347472"/>
          </a:xfrm>
          <a:prstGeom prst="roundRect">
            <a:avLst>
              <a:gd name="adj" fmla="val 42105"/>
            </a:avLst>
          </a:prstGeom>
          <a:solidFill>
            <a:srgbClr val="12544F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6327648" y="40187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Prescribing</a:t>
            </a:r>
            <a:endParaRPr lang="en-US" sz="1150" dirty="0"/>
          </a:p>
        </p:txBody>
      </p:sp>
      <p:sp>
        <p:nvSpPr>
          <p:cNvPr id="74" name="Shape 71"/>
          <p:cNvSpPr/>
          <p:nvPr/>
        </p:nvSpPr>
        <p:spPr>
          <a:xfrm>
            <a:off x="6382512" y="4475988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6473952" y="447598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prescriptions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6382512" y="4786884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6473952" y="47868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prescription_medicines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9015984" y="4018788"/>
            <a:ext cx="2578608" cy="2034540"/>
          </a:xfrm>
          <a:prstGeom prst="roundRect">
            <a:avLst>
              <a:gd name="adj" fmla="val 7191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015984" y="4018788"/>
            <a:ext cx="2578608" cy="347472"/>
          </a:xfrm>
          <a:prstGeom prst="roundRect">
            <a:avLst>
              <a:gd name="adj" fmla="val 42105"/>
            </a:avLst>
          </a:prstGeom>
          <a:solidFill>
            <a:srgbClr val="12544F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9144000" y="40187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Finance</a:t>
            </a:r>
            <a:endParaRPr lang="en-US" sz="1150" dirty="0"/>
          </a:p>
        </p:txBody>
      </p:sp>
      <p:sp>
        <p:nvSpPr>
          <p:cNvPr id="81" name="Shape 78"/>
          <p:cNvSpPr/>
          <p:nvPr/>
        </p:nvSpPr>
        <p:spPr>
          <a:xfrm>
            <a:off x="9198864" y="4475988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290304" y="447598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invoices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9198864" y="4786884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9290304" y="47868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invoice_items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9198864" y="5097780"/>
            <a:ext cx="2212848" cy="256032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9290304" y="50977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Patient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Self-service on the patient's own record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326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kern="0" spc="18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33488" y="2240280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61504" y="2240280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79776" y="2875788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2875788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2875788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1504" y="2875788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79776" y="3511296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07792" y="3511296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Records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33488" y="3511296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61504" y="3511296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Results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79776" y="4146804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07792" y="4146804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33488" y="4146804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61504" y="4146804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Vitals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79776" y="4782312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07792" y="4782312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Admissions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33488" y="4782312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61504" y="4782312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79776" y="5417820"/>
            <a:ext cx="4261104" cy="4526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07792" y="5417820"/>
            <a:ext cx="40050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30769"/>
            </a:avLst>
          </a:prstGeom>
          <a:solidFill>
            <a:srgbClr val="2A835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185416" y="2194560"/>
            <a:ext cx="594360" cy="272034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2185416" y="2194560"/>
            <a:ext cx="594360" cy="907542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2185416" y="2194560"/>
            <a:ext cx="5148072" cy="907542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2185416" y="2194560"/>
            <a:ext cx="594360" cy="1543050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2185416" y="2194560"/>
            <a:ext cx="5148072" cy="1543050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2185416" y="2194560"/>
            <a:ext cx="594360" cy="2178558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2185416" y="2194560"/>
            <a:ext cx="5148072" cy="2178558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2185416" y="2194560"/>
            <a:ext cx="594360" cy="2814066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2185416" y="2194560"/>
            <a:ext cx="5148072" cy="2814066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2185416" y="2194560"/>
            <a:ext cx="594360" cy="3449574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Doctor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workspace for a practising doctor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326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kern="0" spc="18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33488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61504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79776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1504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Records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79776" y="4782312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07792" y="47823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33488" y="4782312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61504" y="47823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 Schedule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30769"/>
            </a:avLst>
          </a:prstGeom>
          <a:solidFill>
            <a:srgbClr val="2A835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85416" y="2194560"/>
            <a:ext cx="594360" cy="320040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185416" y="2194560"/>
            <a:ext cx="5148072" cy="320040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185416" y="2194560"/>
            <a:ext cx="594360" cy="1591056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2185416" y="2194560"/>
            <a:ext cx="5148072" cy="1591056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2185416" y="2194560"/>
            <a:ext cx="594360" cy="2862072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2185416" y="2194560"/>
            <a:ext cx="5148072" cy="2862072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Nurse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Focused on ward assignment and vitals capture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326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kern="0" spc="18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8814816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8558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79776" y="3511296"/>
            <a:ext cx="8814816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7792" y="3511296"/>
            <a:ext cx="8558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Assigned Patients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79776" y="4782312"/>
            <a:ext cx="8814816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4782312"/>
            <a:ext cx="8558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 Vitals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30769"/>
            </a:avLst>
          </a:prstGeom>
          <a:solidFill>
            <a:srgbClr val="2A835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Nurse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85416" y="2194560"/>
            <a:ext cx="594360" cy="320040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185416" y="2194560"/>
            <a:ext cx="594360" cy="1591056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185416" y="2194560"/>
            <a:ext cx="594360" cy="2862072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Receptionist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Front-desk operations from registration to admission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326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kern="0" spc="18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33488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61504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79776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1504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Admissions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79776" y="4782312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07792" y="47823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30769"/>
            </a:avLst>
          </a:prstGeom>
          <a:solidFill>
            <a:srgbClr val="2A835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Receptionist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85416" y="2194560"/>
            <a:ext cx="594360" cy="320040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185416" y="2194560"/>
            <a:ext cx="5148072" cy="320040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2185416" y="2194560"/>
            <a:ext cx="594360" cy="1591056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185416" y="2194560"/>
            <a:ext cx="5148072" cy="1591056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185416" y="2194560"/>
            <a:ext cx="594360" cy="2862072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Pharmacist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Dispensing and stock control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326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kern="0" spc="18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33488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61504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Prescriptions &amp; Billing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79776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1504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 Batches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79776" y="4782312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07792" y="47823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33488" y="4782312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61504" y="47823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Pharmacy Stock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30769"/>
            </a:avLst>
          </a:prstGeom>
          <a:solidFill>
            <a:srgbClr val="2A835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Pharmacist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85416" y="2194560"/>
            <a:ext cx="594360" cy="320040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185416" y="2194560"/>
            <a:ext cx="5148072" cy="320040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185416" y="2194560"/>
            <a:ext cx="594360" cy="1591056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2185416" y="2194560"/>
            <a:ext cx="5148072" cy="1591056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2185416" y="2194560"/>
            <a:ext cx="594360" cy="2862072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2185416" y="2194560"/>
            <a:ext cx="5148072" cy="2862072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Lab Technician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catalogue, processing and result entry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326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kern="0" spc="18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33488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61504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Prescriptions &amp; Billing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79776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Types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3511296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1504" y="35112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Tests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79776" y="4782312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07792" y="47823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Results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30769"/>
            </a:avLst>
          </a:prstGeom>
          <a:solidFill>
            <a:srgbClr val="2A835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Technician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85416" y="2194560"/>
            <a:ext cx="594360" cy="320040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185416" y="2194560"/>
            <a:ext cx="5148072" cy="320040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2185416" y="2194560"/>
            <a:ext cx="594360" cy="1591056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185416" y="2194560"/>
            <a:ext cx="5148072" cy="1591056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185416" y="2194560"/>
            <a:ext cx="594360" cy="2862072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Accountant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 and payment settlement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326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kern="0" spc="18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33488" y="2240280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61504" y="224028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79776" y="4146804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4146804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 Items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4146804"/>
            <a:ext cx="4261104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1504" y="4146804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30769"/>
            </a:avLst>
          </a:prstGeom>
          <a:solidFill>
            <a:srgbClr val="2A835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85416" y="2194560"/>
            <a:ext cx="594360" cy="320040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2185416" y="2194560"/>
            <a:ext cx="5148072" cy="320040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185416" y="2194560"/>
            <a:ext cx="594360" cy="2226564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185416" y="2194560"/>
            <a:ext cx="5148072" cy="2226564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Diagram — Administrator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Configuration authority across all 21 master screens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737360"/>
            <a:ext cx="8814816" cy="4480560"/>
          </a:xfrm>
          <a:prstGeom prst="roundRect">
            <a:avLst>
              <a:gd name="adj" fmla="val 326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1051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kern="0" spc="18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240280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2240280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15584" y="2240280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2240280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851392" y="2240280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79408" y="2240280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79776" y="2785001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07792" y="2785001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15584" y="2785001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2785001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51392" y="2785001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79408" y="2785001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79776" y="3329722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07792" y="3329722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15584" y="3329722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0" y="3329722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Admissions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851392" y="3329722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79408" y="3329722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Rooms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79776" y="3874443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07792" y="3874443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Beds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15584" y="3874443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0" y="3874443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Nurse Assignments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851392" y="3874443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79408" y="3874443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Types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79776" y="4419165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907792" y="4419165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Tests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815584" y="4419165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3600" y="4419165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Results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851392" y="4419165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79408" y="4419165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79776" y="4963886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07792" y="4963886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 Batches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815584" y="4963886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43600" y="4963886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Pharmacies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851392" y="4963886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979408" y="4963886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Pharmacy Stock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79776" y="5508607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907792" y="5508607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815584" y="5508607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43600" y="5508607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 Items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851392" y="5508607"/>
            <a:ext cx="2743200" cy="36184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2544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979408" y="5508607"/>
            <a:ext cx="2487168" cy="3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2648" y="1956816"/>
            <a:ext cx="1572768" cy="475488"/>
          </a:xfrm>
          <a:prstGeom prst="roundRect">
            <a:avLst>
              <a:gd name="adj" fmla="val 30769"/>
            </a:avLst>
          </a:prstGeom>
          <a:solidFill>
            <a:srgbClr val="2A835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04088" y="19568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Administrator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185416" y="2194560"/>
            <a:ext cx="594360" cy="226641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185416" y="2194560"/>
            <a:ext cx="3630168" cy="226641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2185416" y="2194560"/>
            <a:ext cx="6665976" cy="226641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185416" y="2194560"/>
            <a:ext cx="594360" cy="771362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2185416" y="2194560"/>
            <a:ext cx="3630168" cy="771362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2185416" y="2194560"/>
            <a:ext cx="6665976" cy="771362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2185416" y="2194560"/>
            <a:ext cx="594360" cy="1316083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2185416" y="2194560"/>
            <a:ext cx="3630168" cy="1316083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2185416" y="2194560"/>
            <a:ext cx="6665976" cy="1316083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2185416" y="2194560"/>
            <a:ext cx="594360" cy="1860804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2185416" y="2194560"/>
            <a:ext cx="3630168" cy="1860804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2185416" y="2194560"/>
            <a:ext cx="6665976" cy="1860804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2185416" y="2194560"/>
            <a:ext cx="594360" cy="2405525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2185416" y="2194560"/>
            <a:ext cx="3630168" cy="2405525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2185416" y="2194560"/>
            <a:ext cx="6665976" cy="2405525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2185416" y="2194560"/>
            <a:ext cx="594360" cy="2950246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2185416" y="2194560"/>
            <a:ext cx="3630168" cy="2950246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2185416" y="2194560"/>
            <a:ext cx="6665976" cy="2950246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2185416" y="2194560"/>
            <a:ext cx="594360" cy="3494967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2185416" y="2194560"/>
            <a:ext cx="3630168" cy="3494967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2185416" y="2194560"/>
            <a:ext cx="6665976" cy="3494967"/>
          </a:xfrm>
          <a:prstGeom prst="line">
            <a:avLst/>
          </a:prstGeom>
          <a:noFill/>
          <a:ln w="12700">
            <a:solidFill>
              <a:srgbClr val="6C8683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AND AI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 API Design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Thirty routers exposing 168 endpoints under consistent verbs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65376"/>
            <a:ext cx="2205533" cy="274320"/>
          </a:xfrm>
          <a:prstGeom prst="roundRect">
            <a:avLst>
              <a:gd name="adj" fmla="val 53333"/>
            </a:avLst>
          </a:prstGeom>
          <a:solidFill>
            <a:srgbClr val="1254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86537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72461" y="1865376"/>
            <a:ext cx="3198023" cy="274320"/>
          </a:xfrm>
          <a:prstGeom prst="roundRect">
            <a:avLst>
              <a:gd name="adj" fmla="val 53333"/>
            </a:avLst>
          </a:prstGeom>
          <a:solidFill>
            <a:srgbClr val="125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63901" y="186537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Verbs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70483" y="1865376"/>
            <a:ext cx="771936" cy="274320"/>
          </a:xfrm>
          <a:prstGeom prst="roundRect">
            <a:avLst>
              <a:gd name="adj" fmla="val 53333"/>
            </a:avLst>
          </a:prstGeom>
          <a:solidFill>
            <a:srgbClr val="1254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61923" y="186537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42420" y="1865376"/>
            <a:ext cx="4852172" cy="274320"/>
          </a:xfrm>
          <a:prstGeom prst="roundRect">
            <a:avLst>
              <a:gd name="adj" fmla="val 53333"/>
            </a:avLst>
          </a:prstGeom>
          <a:solidFill>
            <a:srgbClr val="1254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33860" y="186537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Responsibility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2139696"/>
            <a:ext cx="2205533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213969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/patients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72461" y="2139696"/>
            <a:ext cx="3198023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63901" y="213969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PUT, DELETE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70483" y="2139696"/>
            <a:ext cx="771936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61923" y="213969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42420" y="2139696"/>
            <a:ext cx="4852172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33860" y="213969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Profile, staff listings, self view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2414016"/>
            <a:ext cx="2205533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241401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/appointments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72461" y="2414016"/>
            <a:ext cx="3198023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63901" y="241401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PUT, DELETE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70483" y="2414016"/>
            <a:ext cx="771936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61923" y="241401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42420" y="2414016"/>
            <a:ext cx="4852172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33860" y="241401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Booking, doctor slots, cancel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2688336"/>
            <a:ext cx="2205533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268833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/admissions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72461" y="2688336"/>
            <a:ext cx="3198023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863901" y="268833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70483" y="2688336"/>
            <a:ext cx="771936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61923" y="268833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42420" y="2688336"/>
            <a:ext cx="4852172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33860" y="268833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Admit, discharge, by patient or doctor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" y="2962656"/>
            <a:ext cx="2205533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8368" y="296265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/medical-records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72461" y="2962656"/>
            <a:ext cx="3198023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63901" y="296265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70483" y="2962656"/>
            <a:ext cx="771936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61923" y="296265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742420" y="2962656"/>
            <a:ext cx="4852172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33860" y="296265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Records by patient or doctor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6928" y="3236976"/>
            <a:ext cx="2205533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58368" y="323697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/vitals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72461" y="3236976"/>
            <a:ext cx="3198023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863901" y="323697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970483" y="3236976"/>
            <a:ext cx="771936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061923" y="323697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742420" y="3236976"/>
            <a:ext cx="4852172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833860" y="323697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Vitals by patient or employee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" y="3511296"/>
            <a:ext cx="2205533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58368" y="351129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/lab-results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72461" y="3511296"/>
            <a:ext cx="3198023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863901" y="351129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970483" y="3511296"/>
            <a:ext cx="771936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061923" y="351129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742420" y="3511296"/>
            <a:ext cx="4852172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833860" y="351129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 entry and patient view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66928" y="3785616"/>
            <a:ext cx="2205533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8368" y="378561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/prescriptions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772461" y="3785616"/>
            <a:ext cx="3198023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863901" y="378561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970483" y="3785616"/>
            <a:ext cx="771936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061923" y="378561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742420" y="3785616"/>
            <a:ext cx="4852172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833860" y="378561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Issue by doctor, view by patient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66928" y="4059936"/>
            <a:ext cx="2205533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58368" y="405993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/pharmacy-stock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772461" y="4059936"/>
            <a:ext cx="3198023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863901" y="405993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970483" y="4059936"/>
            <a:ext cx="771936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061923" y="405993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742420" y="4059936"/>
            <a:ext cx="4852172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833860" y="405993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 by pharmacy and batch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66928" y="4334256"/>
            <a:ext cx="2205533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58368" y="433425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/invoices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772461" y="4334256"/>
            <a:ext cx="3198023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2863901" y="433425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970483" y="4334256"/>
            <a:ext cx="771936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061923" y="433425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742420" y="4334256"/>
            <a:ext cx="4852172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833860" y="433425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 master, own-invoice view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66928" y="4608576"/>
            <a:ext cx="2205533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58368" y="460857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/payments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772461" y="4608576"/>
            <a:ext cx="3198023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2863901" y="460857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POST, PATCH, DELETE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5970483" y="4608576"/>
            <a:ext cx="771936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061923" y="460857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6742420" y="4608576"/>
            <a:ext cx="4852172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833860" y="460857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Settlement against an invoice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566928" y="4882896"/>
            <a:ext cx="2205533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658368" y="488289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/auth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2772461" y="4882896"/>
            <a:ext cx="3198023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2863901" y="488289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5970483" y="4882896"/>
            <a:ext cx="771936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6061923" y="488289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742420" y="4882896"/>
            <a:ext cx="4852172" cy="274320"/>
          </a:xfrm>
          <a:prstGeom prst="roundRect">
            <a:avLst>
              <a:gd name="adj" fmla="val 53333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6833860" y="488289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registration and login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566928" y="5157216"/>
            <a:ext cx="2205533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58368" y="5157216"/>
            <a:ext cx="2022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/dashboard, /chat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2772461" y="5157216"/>
            <a:ext cx="3198023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2863901" y="5157216"/>
            <a:ext cx="3015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GET, POST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5970483" y="5157216"/>
            <a:ext cx="771936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6061923" y="5157216"/>
            <a:ext cx="58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742420" y="5157216"/>
            <a:ext cx="4852172" cy="274320"/>
          </a:xfrm>
          <a:prstGeom prst="roundRect">
            <a:avLst>
              <a:gd name="adj" fmla="val 53333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6833860" y="5157216"/>
            <a:ext cx="4669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Aggregate statistics, assistant query</a:t>
            </a:r>
            <a:endParaRPr lang="en-US" sz="950" dirty="0"/>
          </a:p>
        </p:txBody>
      </p:sp>
      <p:sp>
        <p:nvSpPr>
          <p:cNvPr id="112" name="Text 110"/>
          <p:cNvSpPr txBox="1"/>
          <p:nvPr/>
        </p:nvSpPr>
        <p:spPr>
          <a:xfrm>
            <a:off x="566928" y="5632704"/>
            <a:ext cx="11027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i="1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route carries an explicit FastAPI prefix, and protected routes declare a require_patient, require_member, require_admin or require_role dependency.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AND AI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Assistant Architecture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Role-gated tool calling over live database state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2029968" cy="2331720"/>
          </a:xfrm>
          <a:prstGeom prst="roundRect">
            <a:avLst>
              <a:gd name="adj" fmla="val 720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084832"/>
            <a:ext cx="2029968" cy="384048"/>
          </a:xfrm>
          <a:prstGeom prst="roundRect">
            <a:avLst>
              <a:gd name="adj" fmla="val 38095"/>
            </a:avLst>
          </a:prstGeom>
          <a:solidFill>
            <a:srgbClr val="1254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08483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MESSAGE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606040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ChatBot.jsx widget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" y="3026664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026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Role-aware prompt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" y="3447288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4472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Message history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96896" y="3246120"/>
            <a:ext cx="219456" cy="914"/>
          </a:xfrm>
          <a:prstGeom prst="line">
            <a:avLst/>
          </a:prstGeom>
          <a:noFill/>
          <a:ln w="2286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16352" y="2084832"/>
            <a:ext cx="2029968" cy="2331720"/>
          </a:xfrm>
          <a:prstGeom prst="roundRect">
            <a:avLst>
              <a:gd name="adj" fmla="val 720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16352" y="2084832"/>
            <a:ext cx="2029968" cy="384048"/>
          </a:xfrm>
          <a:prstGeom prst="roundRect">
            <a:avLst>
              <a:gd name="adj" fmla="val 38095"/>
            </a:avLst>
          </a:prstGeom>
          <a:solidFill>
            <a:srgbClr val="1254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07792" y="208483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GATE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62656" y="2606040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54096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get_current_user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62656" y="3026664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54096" y="3026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 resolution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62656" y="3447288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54096" y="34472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 allow-list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246120"/>
            <a:ext cx="219456" cy="914"/>
          </a:xfrm>
          <a:prstGeom prst="line">
            <a:avLst/>
          </a:prstGeom>
          <a:noFill/>
          <a:ln w="2286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65776" y="2084832"/>
            <a:ext cx="2029968" cy="2331720"/>
          </a:xfrm>
          <a:prstGeom prst="roundRect">
            <a:avLst>
              <a:gd name="adj" fmla="val 720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65776" y="2084832"/>
            <a:ext cx="2029968" cy="384048"/>
          </a:xfrm>
          <a:prstGeom prst="roundRect">
            <a:avLst>
              <a:gd name="adj" fmla="val 38095"/>
            </a:avLst>
          </a:prstGeom>
          <a:solidFill>
            <a:srgbClr val="12544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157216" y="208483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CLIENT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0" y="2606040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03520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OpenAI-compatible POST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12080" y="3026664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03520" y="3026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qwen2.5:3b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12080" y="3447288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03520" y="34472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 0.3 · 850 tokens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95744" y="3246120"/>
            <a:ext cx="219456" cy="914"/>
          </a:xfrm>
          <a:prstGeom prst="line">
            <a:avLst/>
          </a:prstGeom>
          <a:noFill/>
          <a:ln w="2286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15200" y="2084832"/>
            <a:ext cx="2029968" cy="2331720"/>
          </a:xfrm>
          <a:prstGeom prst="roundRect">
            <a:avLst>
              <a:gd name="adj" fmla="val 720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2084832"/>
            <a:ext cx="2029968" cy="384048"/>
          </a:xfrm>
          <a:prstGeom prst="roundRect">
            <a:avLst>
              <a:gd name="adj" fmla="val 38095"/>
            </a:avLst>
          </a:prstGeom>
          <a:solidFill>
            <a:srgbClr val="12544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406640" y="208483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DISPATCH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61504" y="2606040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52944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registered tools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61504" y="3026664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52944" y="3026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JSON action parse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61504" y="3447288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52944" y="34472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 permission map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345168" y="3246120"/>
            <a:ext cx="219456" cy="914"/>
          </a:xfrm>
          <a:prstGeom prst="line">
            <a:avLst/>
          </a:prstGeom>
          <a:noFill/>
          <a:ln w="2286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564624" y="2084832"/>
            <a:ext cx="2029968" cy="2331720"/>
          </a:xfrm>
          <a:prstGeom prst="roundRect">
            <a:avLst>
              <a:gd name="adj" fmla="val 720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64624" y="2084832"/>
            <a:ext cx="2029968" cy="384048"/>
          </a:xfrm>
          <a:prstGeom prst="roundRect">
            <a:avLst>
              <a:gd name="adj" fmla="val 38095"/>
            </a:avLst>
          </a:prstGeom>
          <a:solidFill>
            <a:srgbClr val="12544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656064" y="208483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710928" y="2606040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802368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query execution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710928" y="3026664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802368" y="3026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 passed back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710928" y="3447288"/>
            <a:ext cx="17373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802368" y="34472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Answer composed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66928" y="4681728"/>
            <a:ext cx="11027664" cy="1097280"/>
          </a:xfrm>
          <a:prstGeom prst="roundRect">
            <a:avLst>
              <a:gd name="adj" fmla="val 13333"/>
            </a:avLst>
          </a:prstGeom>
          <a:solidFill>
            <a:srgbClr val="092328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2296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kern="0" spc="140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5047488"/>
            <a:ext cx="2446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retries with exponential backoff and respect for a Retry-After header on 429 responses.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3451860" y="5047488"/>
            <a:ext cx="2446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Backoff capped at thirty seconds to keep a chat turn responsive.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6080760" y="5047488"/>
            <a:ext cx="2446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 OpenAI-compatible endpoint works: Ollama locally, or a hosted provider through environment variables.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8709660" y="5047488"/>
            <a:ext cx="2446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assistant never generates clinical data; it only reports what the database returns.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AND AI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Assistant Tools and Role Permissions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/ 45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00784"/>
            <a:ext cx="11027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Fourteen tools are registered, but each is granted only to the roles that may legitimately call it. Confidential clinical data is restricted to doctors and administrators.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19456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kern="0" spc="13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 TOOLS  ·  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523744"/>
            <a:ext cx="5285232" cy="585216"/>
          </a:xfrm>
          <a:prstGeom prst="roundRect">
            <a:avLst>
              <a:gd name="adj" fmla="val 25000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list_doctors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980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all doctors with specialisation and department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182112"/>
            <a:ext cx="5285232" cy="585216"/>
          </a:xfrm>
          <a:prstGeom prst="roundRect">
            <a:avLst>
              <a:gd name="adj" fmla="val 25000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36976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doctor_schedule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5643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a doctor's weekly schedule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3840480"/>
            <a:ext cx="5285232" cy="585216"/>
          </a:xfrm>
          <a:prstGeom prst="roundRect">
            <a:avLst>
              <a:gd name="adj" fmla="val 25000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895344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book_appointment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114800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 an appointment for the logged-in patient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4498848"/>
            <a:ext cx="5285232" cy="585216"/>
          </a:xfrm>
          <a:prstGeom prst="roundRect">
            <a:avLst>
              <a:gd name="adj" fmla="val 25000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553712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my_appointments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77316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the logged-in patient's appointments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5157216"/>
            <a:ext cx="5285232" cy="585216"/>
          </a:xfrm>
          <a:prstGeom prst="roundRect">
            <a:avLst>
              <a:gd name="adj" fmla="val 25000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212080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cancel_appointment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43153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Cancel the logged-in patient's appointment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19456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kern="0" spc="13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STAFF TOOLS  ·  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523744"/>
            <a:ext cx="5285232" cy="310896"/>
          </a:xfrm>
          <a:prstGeom prst="roundRect">
            <a:avLst>
              <a:gd name="adj" fmla="val 47059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37376" y="252374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doctor_info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951976" y="25237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09360" y="2889504"/>
            <a:ext cx="5285232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37376" y="288950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patient_lookup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951976" y="28895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doctor, nurse, receptionist, pharmacist, lab_technician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09360" y="3255264"/>
            <a:ext cx="5285232" cy="310896"/>
          </a:xfrm>
          <a:prstGeom prst="roundRect">
            <a:avLst>
              <a:gd name="adj" fmla="val 47059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37376" y="325526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patient_medical_history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951976" y="325526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9360" y="3621024"/>
            <a:ext cx="5285232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37376" y="362102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patient_vitals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951976" y="36210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309360" y="3986784"/>
            <a:ext cx="5285232" cy="310896"/>
          </a:xfrm>
          <a:prstGeom prst="roundRect">
            <a:avLst>
              <a:gd name="adj" fmla="val 47059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37376" y="398678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today_summary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951976" y="398678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doctor, nurse, receptionist, pharmacist, lab_technician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09360" y="4352544"/>
            <a:ext cx="5285232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37376" y="435254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bed_occupancy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951976" y="43525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doctor, nurse, receptionist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09360" y="4718304"/>
            <a:ext cx="5285232" cy="310896"/>
          </a:xfrm>
          <a:prstGeom prst="roundRect">
            <a:avLst>
              <a:gd name="adj" fmla="val 47059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37376" y="471830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low_stock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951976" y="47183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doctor, nurse, pharmacist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09360" y="5084064"/>
            <a:ext cx="5285232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37376" y="508406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department_summary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8951976" y="508406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doctor, nurse, receptionist, pharmacist, lab_technician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09360" y="5449824"/>
            <a:ext cx="5285232" cy="310896"/>
          </a:xfrm>
          <a:prstGeom prst="roundRect">
            <a:avLst>
              <a:gd name="adj" fmla="val 47059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37376" y="544982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my_assignments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951976" y="54498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nurse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Rules Enforced by the System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330952" cy="950976"/>
          </a:xfrm>
          <a:prstGeom prst="roundRect">
            <a:avLst>
              <a:gd name="adj" fmla="val 153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892808"/>
            <a:ext cx="365760" cy="36576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4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874520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Admission status lifecycle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276856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admission may only be admitted, discharged or cancelled, enforced by a check constraint. Discharge date cannot precede the admission date.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62072"/>
            <a:ext cx="5330952" cy="950976"/>
          </a:xfrm>
          <a:prstGeom prst="roundRect">
            <a:avLst>
              <a:gd name="adj" fmla="val 153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971800"/>
            <a:ext cx="365760" cy="36576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4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953512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Bed occupancy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3355848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bed belongs to exactly one room, and room availability is derived from the beds underneath it rather than stored separately.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941064"/>
            <a:ext cx="5330952" cy="950976"/>
          </a:xfrm>
          <a:prstGeom prst="roundRect">
            <a:avLst>
              <a:gd name="adj" fmla="val 153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4050792"/>
            <a:ext cx="365760" cy="36576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4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403250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Slot validity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434840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appointment must fall inside the doctor's declared weekly schedule, and the slot must be free before the booking is written.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5020056"/>
            <a:ext cx="5330952" cy="950976"/>
          </a:xfrm>
          <a:prstGeom prst="roundRect">
            <a:avLst>
              <a:gd name="adj" fmla="val 153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5129784"/>
            <a:ext cx="365760" cy="36576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4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5111496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 identity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513832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patient profile is one-to-one with a user account, so authentication identity and clinical identity cannot drift apart.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1783080"/>
            <a:ext cx="5330952" cy="950976"/>
          </a:xfrm>
          <a:prstGeom prst="roundRect">
            <a:avLst>
              <a:gd name="adj" fmla="val 153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83096" y="1892808"/>
            <a:ext cx="365760" cy="36576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29" name="Text 27"/>
          <p:cNvSpPr/>
          <p:nvPr/>
        </p:nvSpPr>
        <p:spPr>
          <a:xfrm>
            <a:off x="6483096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40" dirty="0"/>
          </a:p>
        </p:txBody>
      </p:sp>
      <p:sp>
        <p:nvSpPr>
          <p:cNvPr id="30" name="Text 28"/>
          <p:cNvSpPr txBox="1"/>
          <p:nvPr/>
        </p:nvSpPr>
        <p:spPr>
          <a:xfrm>
            <a:off x="6958584" y="1874520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Prescribing chain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2276856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prescription links patient, doctor and pharmacy, and each line resolves through prescription_medicines to a medicine and its batch.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63640" y="2862072"/>
            <a:ext cx="5330952" cy="950976"/>
          </a:xfrm>
          <a:prstGeom prst="roundRect">
            <a:avLst>
              <a:gd name="adj" fmla="val 153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3096" y="2971800"/>
            <a:ext cx="365760" cy="36576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34" name="Text 32"/>
          <p:cNvSpPr/>
          <p:nvPr/>
        </p:nvSpPr>
        <p:spPr>
          <a:xfrm>
            <a:off x="6483096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40" dirty="0"/>
          </a:p>
        </p:txBody>
      </p:sp>
      <p:sp>
        <p:nvSpPr>
          <p:cNvPr id="35" name="Text 33"/>
          <p:cNvSpPr txBox="1"/>
          <p:nvPr/>
        </p:nvSpPr>
        <p:spPr>
          <a:xfrm>
            <a:off x="6958584" y="2953512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Billing integrity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46520" y="3355848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 reference an invoice and invoice items reference the same invoice, so a receipt can never exist without a bill.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3941064"/>
            <a:ext cx="5330952" cy="950976"/>
          </a:xfrm>
          <a:prstGeom prst="roundRect">
            <a:avLst>
              <a:gd name="adj" fmla="val 153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83096" y="4050792"/>
            <a:ext cx="365760" cy="36576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39" name="Text 37"/>
          <p:cNvSpPr/>
          <p:nvPr/>
        </p:nvSpPr>
        <p:spPr>
          <a:xfrm>
            <a:off x="6483096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40" dirty="0"/>
          </a:p>
        </p:txBody>
      </p:sp>
      <p:sp>
        <p:nvSpPr>
          <p:cNvPr id="40" name="Text 38"/>
          <p:cNvSpPr txBox="1"/>
          <p:nvPr/>
        </p:nvSpPr>
        <p:spPr>
          <a:xfrm>
            <a:off x="6958584" y="403250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 activity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46520" y="4434840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deactivated account is refused with 403 even when its token is still cryptographically valid.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63640" y="5020056"/>
            <a:ext cx="5330952" cy="950976"/>
          </a:xfrm>
          <a:prstGeom prst="roundRect">
            <a:avLst>
              <a:gd name="adj" fmla="val 1538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83096" y="5129784"/>
            <a:ext cx="365760" cy="365760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44" name="Text 42"/>
          <p:cNvSpPr/>
          <p:nvPr/>
        </p:nvSpPr>
        <p:spPr>
          <a:xfrm>
            <a:off x="6483096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40" dirty="0"/>
          </a:p>
        </p:txBody>
      </p:sp>
      <p:sp>
        <p:nvSpPr>
          <p:cNvPr id="45" name="Text 43"/>
          <p:cNvSpPr txBox="1"/>
          <p:nvPr/>
        </p:nvSpPr>
        <p:spPr>
          <a:xfrm>
            <a:off x="6958584" y="5111496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Password ceiling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446520" y="5513832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bcrypt truncates beyond 72 bytes, so the application rejects longer passwords at hash time instead of silently weakening them.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Architecture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55648"/>
            <a:ext cx="5330952" cy="4297680"/>
          </a:xfrm>
          <a:prstGeom prst="roundRect">
            <a:avLst>
              <a:gd name="adj" fmla="val 3404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55648"/>
            <a:ext cx="5330952" cy="402336"/>
          </a:xfrm>
          <a:prstGeom prst="roundRect">
            <a:avLst>
              <a:gd name="adj" fmla="val 36364"/>
            </a:avLst>
          </a:prstGeom>
          <a:solidFill>
            <a:srgbClr val="1254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755648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304288"/>
            <a:ext cx="492861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Vite-driven React 19 single-page application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Router 7 with per-role route trees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AuthContext providing account type and role id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Thirty Axios modules mirroring the API domains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Plain CSS design system with a dark pine and emerald palette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755648"/>
            <a:ext cx="5330952" cy="4297680"/>
          </a:xfrm>
          <a:prstGeom prst="roundRect">
            <a:avLst>
              <a:gd name="adj" fmla="val 3404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755648"/>
            <a:ext cx="5330952" cy="402336"/>
          </a:xfrm>
          <a:prstGeom prst="roundRect">
            <a:avLst>
              <a:gd name="adj" fmla="val 36364"/>
            </a:avLst>
          </a:prstGeom>
          <a:solidFill>
            <a:srgbClr val="1254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1755648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Role-aware navigation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304288"/>
            <a:ext cx="492861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Sidebar resolves the menu from the logged-in role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Seven staff dashboards plus a patient dashboard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member fallback menu for unassigned accounts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ChatBot widget mounted alongside the workspace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Consistent loading and error states per screen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Architecture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55648"/>
            <a:ext cx="5330952" cy="4297680"/>
          </a:xfrm>
          <a:prstGeom prst="roundRect">
            <a:avLst>
              <a:gd name="adj" fmla="val 3404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55648"/>
            <a:ext cx="5330952" cy="402336"/>
          </a:xfrm>
          <a:prstGeom prst="roundRect">
            <a:avLst>
              <a:gd name="adj" fmla="val 36364"/>
            </a:avLst>
          </a:prstGeom>
          <a:solidFill>
            <a:srgbClr val="1254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755648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 pipeline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304288"/>
            <a:ext cx="492861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CORS restricted to configured origins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 validation handler returning 422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HTTP, SQLAlchemy and general exception handlers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Unified JSON success and error envelope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Static mount for the compiled frontend bundle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755648"/>
            <a:ext cx="5330952" cy="4297680"/>
          </a:xfrm>
          <a:prstGeom prst="roundRect">
            <a:avLst>
              <a:gd name="adj" fmla="val 3404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755648"/>
            <a:ext cx="5330952" cy="402336"/>
          </a:xfrm>
          <a:prstGeom prst="roundRect">
            <a:avLst>
              <a:gd name="adj" fmla="val 36364"/>
            </a:avLst>
          </a:prstGeom>
          <a:solidFill>
            <a:srgbClr val="1254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1755648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Organisation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304288"/>
            <a:ext cx="492861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Thirty routers registered on the FastAPI app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Pydantic schemas per domain in a schema package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Dependency providers for database session and user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Alembic revision history for schema versioning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Settings object driven by pydantic-settings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Features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01168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92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Password hashing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Passlib CryptContext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bcrypt scheme only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72-byte hard limit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2064" y="1783080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14088" y="201168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14" name="Text 12"/>
          <p:cNvSpPr/>
          <p:nvPr/>
        </p:nvSpPr>
        <p:spPr>
          <a:xfrm>
            <a:off x="451408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5035296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Stateless tokens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35296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JWT signed with python-jose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Subject claim holds the user id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server-side session store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77200" y="1783080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9224" y="201168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19" name="Text 17"/>
          <p:cNvSpPr/>
          <p:nvPr/>
        </p:nvSpPr>
        <p:spPr>
          <a:xfrm>
            <a:off x="826922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92" dirty="0"/>
          </a:p>
        </p:txBody>
      </p:sp>
      <p:sp>
        <p:nvSpPr>
          <p:cNvPr id="20" name="Text 18"/>
          <p:cNvSpPr txBox="1"/>
          <p:nvPr/>
        </p:nvSpPr>
        <p:spPr>
          <a:xfrm>
            <a:off x="8790432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 authentication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90432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HTTPBearer scheme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401 with WWW-Authenticate on failure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 decoded before any query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037076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4265676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 authorisation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require_role allow-list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require_patient and require_member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require_admin for master 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22064" y="4037076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4088" y="4265676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29" name="Text 27"/>
          <p:cNvSpPr/>
          <p:nvPr/>
        </p:nvSpPr>
        <p:spPr>
          <a:xfrm>
            <a:off x="4514088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92" dirty="0"/>
          </a:p>
        </p:txBody>
      </p:sp>
      <p:sp>
        <p:nvSpPr>
          <p:cNvPr id="30" name="Text 28"/>
          <p:cNvSpPr txBox="1"/>
          <p:nvPr/>
        </p:nvSpPr>
        <p:spPr>
          <a:xfrm>
            <a:off x="5035296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 state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035296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is_active checked per request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Inactive account returns 403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Tokens stop working immediately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77200" y="4037076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69224" y="4265676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34" name="Text 32"/>
          <p:cNvSpPr/>
          <p:nvPr/>
        </p:nvSpPr>
        <p:spPr>
          <a:xfrm>
            <a:off x="8269224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92" dirty="0"/>
          </a:p>
        </p:txBody>
      </p:sp>
      <p:sp>
        <p:nvSpPr>
          <p:cNvPr id="35" name="Text 33"/>
          <p:cNvSpPr txBox="1"/>
          <p:nvPr/>
        </p:nvSpPr>
        <p:spPr>
          <a:xfrm>
            <a:off x="8790432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Transport and origin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790432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CORS from configured origins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Guarded SPA fallback path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Validated request payloads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 Architecture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Containerised single-origin delivery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/ 45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376672" cy="1005840"/>
          </a:xfrm>
          <a:prstGeom prst="roundRect">
            <a:avLst>
              <a:gd name="adj" fmla="val 1454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28800"/>
            <a:ext cx="5376672" cy="54864"/>
          </a:xfrm>
          <a:prstGeom prst="roundRect">
            <a:avLst>
              <a:gd name="adj" fmla="val 266667"/>
            </a:avLst>
          </a:prstGeom>
          <a:solidFill>
            <a:srgbClr val="1254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" y="2286000"/>
            <a:ext cx="4919472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Browser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5376672" cy="1554480"/>
          </a:xfrm>
          <a:prstGeom prst="roundRect">
            <a:avLst>
              <a:gd name="adj" fmla="val 9412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017520"/>
            <a:ext cx="5376672" cy="54864"/>
          </a:xfrm>
          <a:prstGeom prst="roundRect">
            <a:avLst>
              <a:gd name="adj" fmla="val 266667"/>
            </a:avLst>
          </a:prstGeom>
          <a:solidFill>
            <a:srgbClr val="1254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3127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" y="3474720"/>
            <a:ext cx="2377440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" y="34747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37560" y="3474720"/>
            <a:ext cx="2377440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19856" y="34747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Alembic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5376672" cy="2103120"/>
          </a:xfrm>
          <a:prstGeom prst="roundRect">
            <a:avLst>
              <a:gd name="adj" fmla="val 6957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828800"/>
            <a:ext cx="5376672" cy="54864"/>
          </a:xfrm>
          <a:prstGeom prst="roundRect">
            <a:avLst>
              <a:gd name="adj" fmla="val 266667"/>
            </a:avLst>
          </a:prstGeom>
          <a:solidFill>
            <a:srgbClr val="1254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37376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2286000"/>
            <a:ext cx="1530096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28816" y="2286000"/>
            <a:ext cx="136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Uvicorn worker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41208" y="2286000"/>
            <a:ext cx="1530096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3504" y="2286000"/>
            <a:ext cx="136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 app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835896" y="2286000"/>
            <a:ext cx="1530096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18192" y="2286000"/>
            <a:ext cx="136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Static mount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4114800"/>
            <a:ext cx="5376672" cy="1005840"/>
          </a:xfrm>
          <a:prstGeom prst="roundRect">
            <a:avLst>
              <a:gd name="adj" fmla="val 14545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114800"/>
            <a:ext cx="5376672" cy="54864"/>
          </a:xfrm>
          <a:prstGeom prst="roundRect">
            <a:avLst>
              <a:gd name="adj" fmla="val 266667"/>
            </a:avLst>
          </a:prstGeom>
          <a:solidFill>
            <a:srgbClr val="12544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37376" y="4224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46520" y="4572000"/>
            <a:ext cx="4919472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28816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endpoint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 and Quality Assurance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394960" cy="4270248"/>
          </a:xfrm>
          <a:prstGeom prst="roundRect">
            <a:avLst>
              <a:gd name="adj" fmla="val 342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929384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Verification utilities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" y="2441448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24128" y="2350008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flow_test.py exercises end-to-end request flows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6384" y="2843784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4128" y="2752344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check_contract.py asserts the API contract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" y="3246120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4128" y="3154680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check_schema.py validates the database schema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6384" y="3648456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4128" y="3557016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verify_models.py confirms ORM definitions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" y="4050792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4128" y="3959352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audit_data.py reviews stored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" y="4453128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4128" y="4361688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scan_frontend.py checks the frontend surface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99632" y="1783080"/>
            <a:ext cx="5394960" cy="4270248"/>
          </a:xfrm>
          <a:prstGeom prst="roundRect">
            <a:avLst>
              <a:gd name="adj" fmla="val 342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9088" y="1929384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Discipline applied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19088" y="2441448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56832" y="2350008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router declares an explicit prefix and tag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19088" y="2843784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56832" y="2752344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Schemas separate create, update and response shapes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19088" y="3246120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56832" y="3154680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constraints encode status vocabularies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19088" y="3648456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56832" y="3557016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Indexes cover patient, doctor, bed and status lookups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19088" y="4050792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56832" y="3959352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Alembic keeps the deployed schema in step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19088" y="4453128"/>
            <a:ext cx="91440" cy="91440"/>
          </a:xfrm>
          <a:prstGeom prst="roundRect">
            <a:avLst>
              <a:gd name="adj" fmla="val 160000"/>
            </a:avLst>
          </a:prstGeom>
          <a:solidFill>
            <a:srgbClr val="2A835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56832" y="4361688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Oxlint runs over the frontend sources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 and Resolutions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42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55648"/>
            <a:ext cx="5330952" cy="4297680"/>
          </a:xfrm>
          <a:prstGeom prst="roundRect">
            <a:avLst>
              <a:gd name="adj" fmla="val 3404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55648"/>
            <a:ext cx="5330952" cy="402336"/>
          </a:xfrm>
          <a:prstGeom prst="roundRect">
            <a:avLst>
              <a:gd name="adj" fmla="val 36364"/>
            </a:avLst>
          </a:prstGeom>
          <a:solidFill>
            <a:srgbClr val="1254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755648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304288"/>
            <a:ext cx="492861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data was readable by any authenticated account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user identity and one patient identity could disagree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Slot booking could double-allocate a doctor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 lines could outlive their invoice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Bed availability was asked for far more often than it was updated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assistant could be tempted to invent clinical values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755648"/>
            <a:ext cx="5330952" cy="4297680"/>
          </a:xfrm>
          <a:prstGeom prst="roundRect">
            <a:avLst>
              <a:gd name="adj" fmla="val 3404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755648"/>
            <a:ext cx="5330952" cy="402336"/>
          </a:xfrm>
          <a:prstGeom prst="roundRect">
            <a:avLst>
              <a:gd name="adj" fmla="val 36364"/>
            </a:avLst>
          </a:prstGeom>
          <a:solidFill>
            <a:srgbClr val="1254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1755648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Resolution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304288"/>
            <a:ext cx="492861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 allow-lists on every protected route and every assistant tool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one-to-one foreign key from patients to users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Slot validated against the doctor's schedule before the write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mandatory invoice foreign key on items and payments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Availability derived from beds by query instead of cached</a:t>
            </a:r>
            <a:endParaRPr lang="en-US" sz="105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Tools return database rows; the model only narrates them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2A83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1254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DELIVERY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Enhancements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6C86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 / 45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01168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92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 mobile client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Native application on the same REST surface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Push reminders for appointments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2064" y="1783080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14088" y="201168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14" name="Text 12"/>
          <p:cNvSpPr/>
          <p:nvPr/>
        </p:nvSpPr>
        <p:spPr>
          <a:xfrm>
            <a:off x="451408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5035296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Insurance claims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35296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Insurer entities and claim lifecycle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Third-party payer reconciliation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77200" y="1783080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9224" y="2011680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19" name="Text 17"/>
          <p:cNvSpPr/>
          <p:nvPr/>
        </p:nvSpPr>
        <p:spPr>
          <a:xfrm>
            <a:off x="826922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92" dirty="0"/>
          </a:p>
        </p:txBody>
      </p:sp>
      <p:sp>
        <p:nvSpPr>
          <p:cNvPr id="20" name="Text 18"/>
          <p:cNvSpPr txBox="1"/>
          <p:nvPr/>
        </p:nvSpPr>
        <p:spPr>
          <a:xfrm>
            <a:off x="8790432" y="1965960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Device integration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90432" y="2404872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vitals capture from bedside monitors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Barcode scan on medicine batches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037076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4265676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Admission and occupancy trend reporting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 and department dashboards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22064" y="4037076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4088" y="4265676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29" name="Text 27"/>
          <p:cNvSpPr/>
          <p:nvPr/>
        </p:nvSpPr>
        <p:spPr>
          <a:xfrm>
            <a:off x="4514088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92" dirty="0"/>
          </a:p>
        </p:txBody>
      </p:sp>
      <p:sp>
        <p:nvSpPr>
          <p:cNvPr id="30" name="Text 28"/>
          <p:cNvSpPr txBox="1"/>
          <p:nvPr/>
        </p:nvSpPr>
        <p:spPr>
          <a:xfrm>
            <a:off x="5035296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Notification service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035296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 and SMS on appointment and result events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Escalation for critical results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77200" y="4037076"/>
            <a:ext cx="3517392" cy="2016252"/>
          </a:xfrm>
          <a:prstGeom prst="roundRect">
            <a:avLst>
              <a:gd name="adj" fmla="val 7256"/>
            </a:avLst>
          </a:prstGeom>
          <a:solidFill>
            <a:srgbClr val="F2F7F4"/>
          </a:solidFill>
          <a:ln w="9525">
            <a:solidFill>
              <a:srgbClr val="D6E6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69224" y="4265676"/>
            <a:ext cx="384048" cy="384048"/>
          </a:xfrm>
          <a:prstGeom prst="ellipse">
            <a:avLst/>
          </a:prstGeom>
          <a:solidFill>
            <a:srgbClr val="12544F"/>
          </a:solidFill>
          <a:ln/>
        </p:spPr>
      </p:sp>
      <p:sp>
        <p:nvSpPr>
          <p:cNvPr id="34" name="Text 32"/>
          <p:cNvSpPr/>
          <p:nvPr/>
        </p:nvSpPr>
        <p:spPr>
          <a:xfrm>
            <a:off x="8269224" y="4265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92" dirty="0"/>
          </a:p>
        </p:txBody>
      </p:sp>
      <p:sp>
        <p:nvSpPr>
          <p:cNvPr id="35" name="Text 33"/>
          <p:cNvSpPr txBox="1"/>
          <p:nvPr/>
        </p:nvSpPr>
        <p:spPr>
          <a:xfrm>
            <a:off x="8790432" y="4219956"/>
            <a:ext cx="2548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C2A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and compliance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790432" y="4658868"/>
            <a:ext cx="2548128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Immutable access log for clinical reads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F4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Retention policy per record class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9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8348"/>
            <a:ext cx="141732" cy="141732"/>
          </a:xfrm>
          <a:prstGeom prst="roundRect">
            <a:avLst>
              <a:gd name="adj" fmla="val 103226"/>
            </a:avLst>
          </a:prstGeom>
          <a:solidFill>
            <a:srgbClr val="8BBB9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10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CLOSING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382512"/>
            <a:ext cx="7719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Hospital Management System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86293" y="6382512"/>
            <a:ext cx="3308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44 / 45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691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Hospital Management System delivers a complete, role-aware digital workflow for hospital operations, implemented as a single containerised service with a three-tier architecture.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" y="2816352"/>
            <a:ext cx="146304" cy="146304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0976" y="27432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Twenty-seven normalised tables capture identity, hospital, clinical, inpatient, laboratory, pharmacy and finance data with enforced referential integrity.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3419856"/>
            <a:ext cx="146304" cy="146304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50976" y="334670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Thirty routers and 168 endpoints give eight roles exactly the surface each of them needs, enforced server-side rather than in the interface.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" y="4023360"/>
            <a:ext cx="146304" cy="146304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50976" y="395020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Six Level-1 and Level-2 data flow processes plus a normalised relational design make the data lifecycle auditable end to end.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" y="4626864"/>
            <a:ext cx="146304" cy="146304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0976" y="455371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fourteen-tool assistant grounded in live database state adds conversational access without widening the security boundary.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82128" y="1783080"/>
            <a:ext cx="1764792" cy="1298448"/>
          </a:xfrm>
          <a:prstGeom prst="roundRect">
            <a:avLst>
              <a:gd name="adj" fmla="val 11268"/>
            </a:avLst>
          </a:prstGeom>
          <a:solidFill>
            <a:srgbClr val="06171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91856" y="2002536"/>
            <a:ext cx="1545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7991856" y="269748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829800" y="1783080"/>
            <a:ext cx="1764792" cy="1298448"/>
          </a:xfrm>
          <a:prstGeom prst="roundRect">
            <a:avLst>
              <a:gd name="adj" fmla="val 11268"/>
            </a:avLst>
          </a:prstGeom>
          <a:solidFill>
            <a:srgbClr val="06171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39528" y="2002536"/>
            <a:ext cx="1545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168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939528" y="269748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82128" y="3264408"/>
            <a:ext cx="1764792" cy="1298448"/>
          </a:xfrm>
          <a:prstGeom prst="roundRect">
            <a:avLst>
              <a:gd name="adj" fmla="val 11268"/>
            </a:avLst>
          </a:prstGeom>
          <a:solidFill>
            <a:srgbClr val="06171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91856" y="3483864"/>
            <a:ext cx="1545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7991856" y="417880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829800" y="3264408"/>
            <a:ext cx="1764792" cy="1298448"/>
          </a:xfrm>
          <a:prstGeom prst="roundRect">
            <a:avLst>
              <a:gd name="adj" fmla="val 11268"/>
            </a:avLst>
          </a:prstGeom>
          <a:solidFill>
            <a:srgbClr val="06171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39528" y="3483864"/>
            <a:ext cx="1545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9939528" y="417880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slides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9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4937760"/>
            <a:ext cx="1371600" cy="1371600"/>
          </a:xfrm>
          <a:prstGeom prst="roundRect">
            <a:avLst>
              <a:gd name="adj" fmla="val 10667"/>
            </a:avLst>
          </a:prstGeom>
          <a:solidFill>
            <a:srgbClr val="12544F"/>
          </a:solidFill>
          <a:ln/>
        </p:spPr>
      </p:sp>
      <p:sp>
        <p:nvSpPr>
          <p:cNvPr id="4" name="Shape 1"/>
          <p:cNvSpPr/>
          <p:nvPr/>
        </p:nvSpPr>
        <p:spPr>
          <a:xfrm>
            <a:off x="1371600" y="5486400"/>
            <a:ext cx="274320" cy="274320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5" name="Shape 2"/>
          <p:cNvSpPr/>
          <p:nvPr/>
        </p:nvSpPr>
        <p:spPr>
          <a:xfrm>
            <a:off x="2377440" y="557784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06171B"/>
          </a:solidFill>
          <a:ln/>
        </p:spPr>
      </p:sp>
      <p:sp>
        <p:nvSpPr>
          <p:cNvPr id="6" name="Shape 3"/>
          <p:cNvSpPr/>
          <p:nvPr/>
        </p:nvSpPr>
        <p:spPr>
          <a:xfrm>
            <a:off x="2706624" y="5907024"/>
            <a:ext cx="164592" cy="164592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7" name="Shape 4"/>
          <p:cNvSpPr/>
          <p:nvPr/>
        </p:nvSpPr>
        <p:spPr>
          <a:xfrm>
            <a:off x="9692640" y="1097280"/>
            <a:ext cx="1463040" cy="1463040"/>
          </a:xfrm>
          <a:prstGeom prst="roundRect">
            <a:avLst>
              <a:gd name="adj" fmla="val 10000"/>
            </a:avLst>
          </a:prstGeom>
          <a:solidFill>
            <a:srgbClr val="12544F"/>
          </a:solidFill>
          <a:ln/>
        </p:spPr>
      </p:sp>
      <p:sp>
        <p:nvSpPr>
          <p:cNvPr id="8" name="Shape 5"/>
          <p:cNvSpPr/>
          <p:nvPr/>
        </p:nvSpPr>
        <p:spPr>
          <a:xfrm>
            <a:off x="10277856" y="1682496"/>
            <a:ext cx="292608" cy="292608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0" y="237744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06171B"/>
          </a:solidFill>
          <a:ln/>
        </p:spPr>
      </p:sp>
      <p:sp>
        <p:nvSpPr>
          <p:cNvPr id="10" name="Shape 7"/>
          <p:cNvSpPr/>
          <p:nvPr/>
        </p:nvSpPr>
        <p:spPr>
          <a:xfrm>
            <a:off x="11338560" y="2743200"/>
            <a:ext cx="182880" cy="182880"/>
          </a:xfrm>
          <a:prstGeom prst="ellipse">
            <a:avLst/>
          </a:prstGeom>
          <a:solidFill>
            <a:srgbClr val="8BBB92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2121408"/>
            <a:ext cx="164592" cy="164592"/>
          </a:xfrm>
          <a:prstGeom prst="roundRect">
            <a:avLst>
              <a:gd name="adj" fmla="val 88889"/>
            </a:avLst>
          </a:prstGeom>
          <a:solidFill>
            <a:srgbClr val="8BBB9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7824" y="2057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kern="0" spc="240" dirty="0">
                <a:solidFill>
                  <a:srgbClr val="8BBB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PRESENTATION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345643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and suggestions are welcome.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4059936"/>
            <a:ext cx="2487168" cy="566928"/>
          </a:xfrm>
          <a:prstGeom prst="roundRect">
            <a:avLst>
              <a:gd name="adj" fmla="val 25806"/>
            </a:avLst>
          </a:prstGeom>
          <a:solidFill>
            <a:srgbClr val="06171B"/>
          </a:solidFill>
          <a:ln/>
        </p:spPr>
      </p:sp>
      <p:sp>
        <p:nvSpPr>
          <p:cNvPr id="16" name="Shape 13"/>
          <p:cNvSpPr/>
          <p:nvPr/>
        </p:nvSpPr>
        <p:spPr>
          <a:xfrm>
            <a:off x="566928" y="4169664"/>
            <a:ext cx="82296" cy="347472"/>
          </a:xfrm>
          <a:prstGeom prst="roundRect">
            <a:avLst>
              <a:gd name="adj" fmla="val 177778"/>
            </a:avLst>
          </a:prstGeom>
          <a:solidFill>
            <a:srgbClr val="8BBB9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" y="413308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Ashutosh Sharma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" y="435254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25204031148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36976" y="4059936"/>
            <a:ext cx="2487168" cy="566928"/>
          </a:xfrm>
          <a:prstGeom prst="roundRect">
            <a:avLst>
              <a:gd name="adj" fmla="val 25806"/>
            </a:avLst>
          </a:prstGeom>
          <a:solidFill>
            <a:srgbClr val="06171B"/>
          </a:solidFill>
          <a:ln/>
        </p:spPr>
      </p:sp>
      <p:sp>
        <p:nvSpPr>
          <p:cNvPr id="20" name="Shape 17"/>
          <p:cNvSpPr/>
          <p:nvPr/>
        </p:nvSpPr>
        <p:spPr>
          <a:xfrm>
            <a:off x="3236976" y="4169664"/>
            <a:ext cx="82296" cy="347472"/>
          </a:xfrm>
          <a:prstGeom prst="roundRect">
            <a:avLst>
              <a:gd name="adj" fmla="val 177778"/>
            </a:avLst>
          </a:prstGeom>
          <a:solidFill>
            <a:srgbClr val="8BBB9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474720" y="413308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Bhavishya Sisodiya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474720" y="435254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25204031140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907024" y="4059936"/>
            <a:ext cx="2487168" cy="566928"/>
          </a:xfrm>
          <a:prstGeom prst="roundRect">
            <a:avLst>
              <a:gd name="adj" fmla="val 25806"/>
            </a:avLst>
          </a:prstGeom>
          <a:solidFill>
            <a:srgbClr val="06171B"/>
          </a:solidFill>
          <a:ln/>
        </p:spPr>
      </p:sp>
      <p:sp>
        <p:nvSpPr>
          <p:cNvPr id="24" name="Shape 21"/>
          <p:cNvSpPr/>
          <p:nvPr/>
        </p:nvSpPr>
        <p:spPr>
          <a:xfrm>
            <a:off x="5907024" y="4169664"/>
            <a:ext cx="82296" cy="347472"/>
          </a:xfrm>
          <a:prstGeom prst="roundRect">
            <a:avLst>
              <a:gd name="adj" fmla="val 177778"/>
            </a:avLst>
          </a:prstGeom>
          <a:solidFill>
            <a:srgbClr val="8BBB9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144768" y="413308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Nitish Kumar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144768" y="435254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25204031115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5504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9CC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 Jay Kumar Jain  ·  Dr Kuldeep Singh Yadav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kern="0" spc="100" dirty="0">
                <a:solidFill>
                  <a:srgbClr val="A9CC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MANIT BHOPAL  ·  Department of Mathematics, Bioinformatics and Computer Application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3839</Words>
  <Application>Microsoft Office PowerPoint</Application>
  <PresentationFormat>Widescreen</PresentationFormat>
  <Paragraphs>1060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Montserrat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MANIT Bhopal — Dept. of Mathematics, Bioinformatics and Computer Application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subject>Minor Project Presentation</dc:subject>
  <dc:creator>Ashutosh Sharma, Bhavishya Sisodiya, Nitish Kumar</dc:creator>
  <cp:lastModifiedBy>ashutosh sharma</cp:lastModifiedBy>
  <cp:revision>2</cp:revision>
  <dcterms:created xsi:type="dcterms:W3CDTF">2026-09-27T21:55:17Z</dcterms:created>
  <dcterms:modified xsi:type="dcterms:W3CDTF">2026-09-28T09:39:26Z</dcterms:modified>
</cp:coreProperties>
</file>